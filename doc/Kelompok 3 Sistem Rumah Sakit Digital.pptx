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เอฟซี โอนิกิริ" charset="1" panose="020B0500040200020003"/>
      <p:regular r:id="rId17"/>
    </p:embeddedFont>
    <p:embeddedFont>
      <p:font typeface="Quicksand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4962" y="1253357"/>
            <a:ext cx="10585423" cy="7780286"/>
          </a:xfrm>
          <a:custGeom>
            <a:avLst/>
            <a:gdLst/>
            <a:ahLst/>
            <a:cxnLst/>
            <a:rect r="r" b="b" t="t" l="l"/>
            <a:pathLst>
              <a:path h="7780286" w="10585423">
                <a:moveTo>
                  <a:pt x="0" y="0"/>
                </a:moveTo>
                <a:lnTo>
                  <a:pt x="10585423" y="0"/>
                </a:lnTo>
                <a:lnTo>
                  <a:pt x="10585423" y="7780286"/>
                </a:lnTo>
                <a:lnTo>
                  <a:pt x="0" y="77802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05666" y="1253357"/>
            <a:ext cx="8824174" cy="7780286"/>
          </a:xfrm>
          <a:custGeom>
            <a:avLst/>
            <a:gdLst/>
            <a:ahLst/>
            <a:cxnLst/>
            <a:rect r="r" b="b" t="t" l="l"/>
            <a:pathLst>
              <a:path h="7780286" w="8824174">
                <a:moveTo>
                  <a:pt x="0" y="0"/>
                </a:moveTo>
                <a:lnTo>
                  <a:pt x="8824174" y="0"/>
                </a:lnTo>
                <a:lnTo>
                  <a:pt x="8824174" y="7780286"/>
                </a:lnTo>
                <a:lnTo>
                  <a:pt x="0" y="7780286"/>
                </a:lnTo>
                <a:lnTo>
                  <a:pt x="0" y="0"/>
                </a:lnTo>
                <a:close/>
              </a:path>
            </a:pathLst>
          </a:custGeom>
          <a:blipFill>
            <a:blip r:embed="rId4">
              <a:extLst>
                <a:ext uri="{96DAC541-7B7A-43D3-8B79-37D633B846F1}">
                  <asvg:svgBlip xmlns:asvg="http://schemas.microsoft.com/office/drawing/2016/SVG/main" r:embed="rId5"/>
                </a:ext>
              </a:extLst>
            </a:blip>
            <a:stretch>
              <a:fillRect l="-19959" t="0" r="0" b="0"/>
            </a:stretch>
          </a:blipFill>
          <a:ln cap="sq">
            <a:noFill/>
            <a:prstDash val="solid"/>
            <a:miter/>
          </a:ln>
        </p:spPr>
      </p:sp>
      <p:sp>
        <p:nvSpPr>
          <p:cNvPr name="TextBox 6" id="6"/>
          <p:cNvSpPr txBox="true"/>
          <p:nvPr/>
        </p:nvSpPr>
        <p:spPr>
          <a:xfrm rot="0">
            <a:off x="3064339" y="3030529"/>
            <a:ext cx="12159323" cy="2780347"/>
          </a:xfrm>
          <a:prstGeom prst="rect">
            <a:avLst/>
          </a:prstGeom>
        </p:spPr>
        <p:txBody>
          <a:bodyPr anchor="t" rtlCol="false" tIns="0" lIns="0" bIns="0" rIns="0">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SISTEM RUMAH SAKIT DIGITAL</a:t>
            </a:r>
          </a:p>
        </p:txBody>
      </p:sp>
      <p:sp>
        <p:nvSpPr>
          <p:cNvPr name="Freeform 7" id="7"/>
          <p:cNvSpPr/>
          <p:nvPr/>
        </p:nvSpPr>
        <p:spPr>
          <a:xfrm flipH="false" flipV="false" rot="-407473">
            <a:off x="14883406" y="7777876"/>
            <a:ext cx="3878817" cy="2511534"/>
          </a:xfrm>
          <a:custGeom>
            <a:avLst/>
            <a:gdLst/>
            <a:ahLst/>
            <a:cxnLst/>
            <a:rect r="r" b="b" t="t" l="l"/>
            <a:pathLst>
              <a:path h="2511534" w="3878817">
                <a:moveTo>
                  <a:pt x="0" y="0"/>
                </a:moveTo>
                <a:lnTo>
                  <a:pt x="3878818" y="0"/>
                </a:lnTo>
                <a:lnTo>
                  <a:pt x="3878818" y="2511534"/>
                </a:lnTo>
                <a:lnTo>
                  <a:pt x="0" y="25115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10595">
            <a:off x="-1046590" y="7810690"/>
            <a:ext cx="5043105" cy="2445906"/>
          </a:xfrm>
          <a:custGeom>
            <a:avLst/>
            <a:gdLst/>
            <a:ahLst/>
            <a:cxnLst/>
            <a:rect r="r" b="b" t="t" l="l"/>
            <a:pathLst>
              <a:path h="2445906" w="5043105">
                <a:moveTo>
                  <a:pt x="0" y="0"/>
                </a:moveTo>
                <a:lnTo>
                  <a:pt x="5043105" y="0"/>
                </a:lnTo>
                <a:lnTo>
                  <a:pt x="5043105" y="2445906"/>
                </a:lnTo>
                <a:lnTo>
                  <a:pt x="0" y="24459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1122752">
            <a:off x="15642757" y="679413"/>
            <a:ext cx="2002873" cy="2584353"/>
          </a:xfrm>
          <a:custGeom>
            <a:avLst/>
            <a:gdLst/>
            <a:ahLst/>
            <a:cxnLst/>
            <a:rect r="r" b="b" t="t" l="l"/>
            <a:pathLst>
              <a:path h="2584353" w="2002873">
                <a:moveTo>
                  <a:pt x="0" y="0"/>
                </a:moveTo>
                <a:lnTo>
                  <a:pt x="2002873" y="0"/>
                </a:lnTo>
                <a:lnTo>
                  <a:pt x="2002873" y="2584352"/>
                </a:lnTo>
                <a:lnTo>
                  <a:pt x="0" y="25843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27090">
            <a:off x="1635248" y="561481"/>
            <a:ext cx="2980439" cy="3516742"/>
          </a:xfrm>
          <a:custGeom>
            <a:avLst/>
            <a:gdLst/>
            <a:ahLst/>
            <a:cxnLst/>
            <a:rect r="r" b="b" t="t" l="l"/>
            <a:pathLst>
              <a:path h="3516742" w="2980439">
                <a:moveTo>
                  <a:pt x="0" y="0"/>
                </a:moveTo>
                <a:lnTo>
                  <a:pt x="2980439" y="0"/>
                </a:lnTo>
                <a:lnTo>
                  <a:pt x="2980439" y="3516742"/>
                </a:lnTo>
                <a:lnTo>
                  <a:pt x="0" y="35167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1" id="11"/>
          <p:cNvSpPr txBox="true"/>
          <p:nvPr/>
        </p:nvSpPr>
        <p:spPr>
          <a:xfrm rot="0">
            <a:off x="7165293" y="4844165"/>
            <a:ext cx="3564026" cy="1156524"/>
          </a:xfrm>
          <a:prstGeom prst="rect">
            <a:avLst/>
          </a:prstGeom>
        </p:spPr>
        <p:txBody>
          <a:bodyPr anchor="t" rtlCol="false" tIns="0" lIns="0" bIns="0" rIns="0">
            <a:spAutoFit/>
          </a:bodyPr>
          <a:lstStyle/>
          <a:p>
            <a:pPr algn="ctr">
              <a:lnSpc>
                <a:spcPts val="8959"/>
              </a:lnSpc>
              <a:spcBef>
                <a:spcPct val="0"/>
              </a:spcBef>
            </a:pPr>
            <a:r>
              <a:rPr lang="en-US" sz="6399">
                <a:solidFill>
                  <a:srgbClr val="5170FF"/>
                </a:solidFill>
                <a:latin typeface="เอฟซี โอนิกิริ"/>
                <a:ea typeface="เอฟซี โอนิกิริ"/>
                <a:cs typeface="เอฟซี โอนิกิริ"/>
                <a:sym typeface="เอฟซี โอนิกิริ"/>
              </a:rPr>
              <a:t>KELOMPOK 3</a:t>
            </a:r>
          </a:p>
        </p:txBody>
      </p:sp>
      <p:sp>
        <p:nvSpPr>
          <p:cNvPr name="TextBox 12" id="12"/>
          <p:cNvSpPr txBox="true"/>
          <p:nvPr/>
        </p:nvSpPr>
        <p:spPr>
          <a:xfrm rot="0">
            <a:off x="11160148" y="5895914"/>
            <a:ext cx="3855357" cy="958847"/>
          </a:xfrm>
          <a:prstGeom prst="rect">
            <a:avLst/>
          </a:prstGeom>
        </p:spPr>
        <p:txBody>
          <a:bodyPr anchor="t" rtlCol="false" tIns="0" lIns="0" bIns="0" rIns="0">
            <a:spAutoFit/>
          </a:bodyPr>
          <a:lstStyle/>
          <a:p>
            <a:pPr algn="ctr">
              <a:lnSpc>
                <a:spcPts val="6922"/>
              </a:lnSpc>
              <a:spcBef>
                <a:spcPct val="0"/>
              </a:spcBef>
            </a:pPr>
            <a:r>
              <a:rPr lang="en-US" sz="4944">
                <a:solidFill>
                  <a:srgbClr val="5170FF"/>
                </a:solidFill>
                <a:latin typeface="เอฟซี โอนิกิริ"/>
                <a:ea typeface="เอฟซี โอนิกิริ"/>
                <a:cs typeface="เอฟซี โอนิกิริ"/>
                <a:sym typeface="เอฟซี โอนิกิริ"/>
              </a:rPr>
              <a:t>ADITYA HAIKAL F</a:t>
            </a:r>
          </a:p>
        </p:txBody>
      </p:sp>
      <p:sp>
        <p:nvSpPr>
          <p:cNvPr name="TextBox 13" id="13"/>
          <p:cNvSpPr txBox="true"/>
          <p:nvPr/>
        </p:nvSpPr>
        <p:spPr>
          <a:xfrm rot="0">
            <a:off x="4401524" y="7162100"/>
            <a:ext cx="2984542" cy="918579"/>
          </a:xfrm>
          <a:prstGeom prst="rect">
            <a:avLst/>
          </a:prstGeom>
        </p:spPr>
        <p:txBody>
          <a:bodyPr anchor="t" rtlCol="false" tIns="0" lIns="0" bIns="0" rIns="0">
            <a:spAutoFit/>
          </a:bodyPr>
          <a:lstStyle/>
          <a:p>
            <a:pPr algn="ctr">
              <a:lnSpc>
                <a:spcPts val="6922"/>
              </a:lnSpc>
              <a:spcBef>
                <a:spcPct val="0"/>
              </a:spcBef>
            </a:pPr>
            <a:r>
              <a:rPr lang="en-US" sz="4944">
                <a:solidFill>
                  <a:srgbClr val="5170FF"/>
                </a:solidFill>
                <a:latin typeface="เอฟซี โอนิกิริ"/>
                <a:ea typeface="เอฟซี โอนิกิริ"/>
                <a:cs typeface="เอฟซี โอนิกิริ"/>
                <a:sym typeface="เอฟซี โอนิกิริ"/>
              </a:rPr>
              <a:t>M.IGNA RIZKI</a:t>
            </a:r>
          </a:p>
        </p:txBody>
      </p:sp>
      <p:sp>
        <p:nvSpPr>
          <p:cNvPr name="TextBox 14" id="14"/>
          <p:cNvSpPr txBox="true"/>
          <p:nvPr/>
        </p:nvSpPr>
        <p:spPr>
          <a:xfrm rot="0">
            <a:off x="10729319" y="7008277"/>
            <a:ext cx="4461528" cy="993368"/>
          </a:xfrm>
          <a:prstGeom prst="rect">
            <a:avLst/>
          </a:prstGeom>
        </p:spPr>
        <p:txBody>
          <a:bodyPr anchor="t" rtlCol="false" tIns="0" lIns="0" bIns="0" rIns="0">
            <a:spAutoFit/>
          </a:bodyPr>
          <a:lstStyle/>
          <a:p>
            <a:pPr algn="ctr">
              <a:lnSpc>
                <a:spcPts val="6922"/>
              </a:lnSpc>
              <a:spcBef>
                <a:spcPct val="0"/>
              </a:spcBef>
            </a:pPr>
            <a:r>
              <a:rPr lang="en-US" sz="4944">
                <a:solidFill>
                  <a:srgbClr val="5170FF"/>
                </a:solidFill>
                <a:latin typeface="เอฟซี โอนิกิริ"/>
                <a:ea typeface="เอฟซี โอนิกิริ"/>
                <a:cs typeface="เอฟซี โอนิกิริ"/>
                <a:sym typeface="เอฟซี โอนิกิริ"/>
              </a:rPr>
              <a:t>REVA SALWA ADHYA</a:t>
            </a:r>
          </a:p>
        </p:txBody>
      </p:sp>
      <p:sp>
        <p:nvSpPr>
          <p:cNvPr name="TextBox 15" id="15"/>
          <p:cNvSpPr txBox="true"/>
          <p:nvPr/>
        </p:nvSpPr>
        <p:spPr>
          <a:xfrm rot="0">
            <a:off x="4622297" y="6035347"/>
            <a:ext cx="2542997" cy="902283"/>
          </a:xfrm>
          <a:prstGeom prst="rect">
            <a:avLst/>
          </a:prstGeom>
        </p:spPr>
        <p:txBody>
          <a:bodyPr anchor="t" rtlCol="false" tIns="0" lIns="0" bIns="0" rIns="0">
            <a:spAutoFit/>
          </a:bodyPr>
          <a:lstStyle/>
          <a:p>
            <a:pPr algn="ctr">
              <a:lnSpc>
                <a:spcPts val="6922"/>
              </a:lnSpc>
              <a:spcBef>
                <a:spcPct val="0"/>
              </a:spcBef>
            </a:pPr>
            <a:r>
              <a:rPr lang="en-US" sz="4944">
                <a:solidFill>
                  <a:srgbClr val="5170FF"/>
                </a:solidFill>
                <a:latin typeface="เอฟซี โอนิกิริ"/>
                <a:ea typeface="เอฟซี โอนิกิริ"/>
                <a:cs typeface="เอฟซี โอนิกิริ"/>
                <a:sym typeface="เอฟซี โอนิกิริ"/>
              </a:rPr>
              <a:t>ADRIANDRA</a:t>
            </a:r>
          </a:p>
        </p:txBody>
      </p:sp>
      <p:sp>
        <p:nvSpPr>
          <p:cNvPr name="Freeform 16" id="16"/>
          <p:cNvSpPr/>
          <p:nvPr/>
        </p:nvSpPr>
        <p:spPr>
          <a:xfrm flipH="false" flipV="false" rot="0">
            <a:off x="8221062" y="6119310"/>
            <a:ext cx="1845875" cy="1987484"/>
          </a:xfrm>
          <a:custGeom>
            <a:avLst/>
            <a:gdLst/>
            <a:ahLst/>
            <a:cxnLst/>
            <a:rect r="r" b="b" t="t" l="l"/>
            <a:pathLst>
              <a:path h="1987484" w="1845875">
                <a:moveTo>
                  <a:pt x="0" y="0"/>
                </a:moveTo>
                <a:lnTo>
                  <a:pt x="1845876" y="0"/>
                </a:lnTo>
                <a:lnTo>
                  <a:pt x="1845876" y="1987483"/>
                </a:lnTo>
                <a:lnTo>
                  <a:pt x="0" y="198748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716807" y="1872086"/>
            <a:ext cx="11571193" cy="6250801"/>
          </a:xfrm>
          <a:custGeom>
            <a:avLst/>
            <a:gdLst/>
            <a:ahLst/>
            <a:cxnLst/>
            <a:rect r="r" b="b" t="t" l="l"/>
            <a:pathLst>
              <a:path h="6250801" w="11571193">
                <a:moveTo>
                  <a:pt x="0" y="0"/>
                </a:moveTo>
                <a:lnTo>
                  <a:pt x="11571193" y="0"/>
                </a:lnTo>
                <a:lnTo>
                  <a:pt x="11571193" y="6250801"/>
                </a:lnTo>
                <a:lnTo>
                  <a:pt x="0" y="6250801"/>
                </a:lnTo>
                <a:lnTo>
                  <a:pt x="0" y="0"/>
                </a:lnTo>
                <a:close/>
              </a:path>
            </a:pathLst>
          </a:custGeom>
          <a:blipFill>
            <a:blip r:embed="rId4">
              <a:extLst>
                <a:ext uri="{96DAC541-7B7A-43D3-8B79-37D633B846F1}">
                  <asvg:svgBlip xmlns:asvg="http://schemas.microsoft.com/office/drawing/2016/SVG/main" r:embed="rId5"/>
                </a:ext>
              </a:extLst>
            </a:blip>
            <a:stretch>
              <a:fillRect l="-19959" t="0" r="0" b="-63216"/>
            </a:stretch>
          </a:blipFill>
          <a:ln cap="sq">
            <a:noFill/>
            <a:prstDash val="solid"/>
            <a:miter/>
          </a:ln>
        </p:spPr>
      </p:sp>
      <p:sp>
        <p:nvSpPr>
          <p:cNvPr name="Freeform 5" id="5"/>
          <p:cNvSpPr/>
          <p:nvPr/>
        </p:nvSpPr>
        <p:spPr>
          <a:xfrm flipH="true" flipV="false" rot="0">
            <a:off x="14228606" y="-1143870"/>
            <a:ext cx="4528929" cy="3877895"/>
          </a:xfrm>
          <a:custGeom>
            <a:avLst/>
            <a:gdLst/>
            <a:ahLst/>
            <a:cxnLst/>
            <a:rect r="r" b="b" t="t" l="l"/>
            <a:pathLst>
              <a:path h="3877895" w="4528929">
                <a:moveTo>
                  <a:pt x="4528928" y="0"/>
                </a:moveTo>
                <a:lnTo>
                  <a:pt x="0" y="0"/>
                </a:lnTo>
                <a:lnTo>
                  <a:pt x="0" y="3877896"/>
                </a:lnTo>
                <a:lnTo>
                  <a:pt x="4528928" y="3877896"/>
                </a:lnTo>
                <a:lnTo>
                  <a:pt x="4528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14135" y="1872086"/>
            <a:ext cx="11571193" cy="6250801"/>
          </a:xfrm>
          <a:custGeom>
            <a:avLst/>
            <a:gdLst/>
            <a:ahLst/>
            <a:cxnLst/>
            <a:rect r="r" b="b" t="t" l="l"/>
            <a:pathLst>
              <a:path h="6250801" w="11571193">
                <a:moveTo>
                  <a:pt x="0" y="0"/>
                </a:moveTo>
                <a:lnTo>
                  <a:pt x="11571193" y="0"/>
                </a:lnTo>
                <a:lnTo>
                  <a:pt x="11571193" y="6250801"/>
                </a:lnTo>
                <a:lnTo>
                  <a:pt x="0" y="6250801"/>
                </a:lnTo>
                <a:lnTo>
                  <a:pt x="0" y="0"/>
                </a:lnTo>
                <a:close/>
              </a:path>
            </a:pathLst>
          </a:custGeom>
          <a:blipFill>
            <a:blip r:embed="rId4">
              <a:extLst>
                <a:ext uri="{96DAC541-7B7A-43D3-8B79-37D633B846F1}">
                  <asvg:svgBlip xmlns:asvg="http://schemas.microsoft.com/office/drawing/2016/SVG/main" r:embed="rId5"/>
                </a:ext>
              </a:extLst>
            </a:blip>
            <a:stretch>
              <a:fillRect l="0" t="0" r="-19959" b="-63216"/>
            </a:stretch>
          </a:blipFill>
          <a:ln cap="sq">
            <a:noFill/>
            <a:prstDash val="solid"/>
            <a:miter/>
          </a:ln>
        </p:spPr>
      </p:sp>
      <p:sp>
        <p:nvSpPr>
          <p:cNvPr name="Freeform 7" id="7"/>
          <p:cNvSpPr/>
          <p:nvPr/>
        </p:nvSpPr>
        <p:spPr>
          <a:xfrm flipH="false" flipV="false" rot="0">
            <a:off x="0" y="6887905"/>
            <a:ext cx="10864378" cy="2918445"/>
          </a:xfrm>
          <a:custGeom>
            <a:avLst/>
            <a:gdLst/>
            <a:ahLst/>
            <a:cxnLst/>
            <a:rect r="r" b="b" t="t" l="l"/>
            <a:pathLst>
              <a:path h="2918445" w="10864378">
                <a:moveTo>
                  <a:pt x="0" y="0"/>
                </a:moveTo>
                <a:lnTo>
                  <a:pt x="10864378" y="0"/>
                </a:lnTo>
                <a:lnTo>
                  <a:pt x="10864378" y="2918445"/>
                </a:lnTo>
                <a:lnTo>
                  <a:pt x="0" y="2918445"/>
                </a:lnTo>
                <a:lnTo>
                  <a:pt x="0" y="0"/>
                </a:lnTo>
                <a:close/>
              </a:path>
            </a:pathLst>
          </a:custGeom>
          <a:blipFill>
            <a:blip r:embed="rId4">
              <a:extLst>
                <a:ext uri="{96DAC541-7B7A-43D3-8B79-37D633B846F1}">
                  <asvg:svgBlip xmlns:asvg="http://schemas.microsoft.com/office/drawing/2016/SVG/main" r:embed="rId5"/>
                </a:ext>
              </a:extLst>
            </a:blip>
            <a:stretch>
              <a:fillRect l="0" t="-228227" r="-19959" b="0"/>
            </a:stretch>
          </a:blipFill>
          <a:ln cap="sq">
            <a:noFill/>
            <a:prstDash val="solid"/>
            <a:miter/>
          </a:ln>
        </p:spPr>
      </p:sp>
      <p:sp>
        <p:nvSpPr>
          <p:cNvPr name="Freeform 8" id="8"/>
          <p:cNvSpPr/>
          <p:nvPr/>
        </p:nvSpPr>
        <p:spPr>
          <a:xfrm flipH="false" flipV="false" rot="0">
            <a:off x="7423622" y="6887905"/>
            <a:ext cx="10864378" cy="2918445"/>
          </a:xfrm>
          <a:custGeom>
            <a:avLst/>
            <a:gdLst/>
            <a:ahLst/>
            <a:cxnLst/>
            <a:rect r="r" b="b" t="t" l="l"/>
            <a:pathLst>
              <a:path h="2918445" w="10864378">
                <a:moveTo>
                  <a:pt x="0" y="0"/>
                </a:moveTo>
                <a:lnTo>
                  <a:pt x="10864378" y="0"/>
                </a:lnTo>
                <a:lnTo>
                  <a:pt x="10864378" y="2918445"/>
                </a:lnTo>
                <a:lnTo>
                  <a:pt x="0" y="2918445"/>
                </a:lnTo>
                <a:lnTo>
                  <a:pt x="0" y="0"/>
                </a:lnTo>
                <a:close/>
              </a:path>
            </a:pathLst>
          </a:custGeom>
          <a:blipFill>
            <a:blip r:embed="rId4">
              <a:extLst>
                <a:ext uri="{96DAC541-7B7A-43D3-8B79-37D633B846F1}">
                  <asvg:svgBlip xmlns:asvg="http://schemas.microsoft.com/office/drawing/2016/SVG/main" r:embed="rId5"/>
                </a:ext>
              </a:extLst>
            </a:blip>
            <a:stretch>
              <a:fillRect l="-19959" t="-228227" r="0" b="0"/>
            </a:stretch>
          </a:blipFill>
          <a:ln cap="sq">
            <a:noFill/>
            <a:prstDash val="solid"/>
            <a:miter/>
          </a:ln>
        </p:spPr>
      </p:sp>
      <p:sp>
        <p:nvSpPr>
          <p:cNvPr name="TextBox 9" id="9"/>
          <p:cNvSpPr txBox="true"/>
          <p:nvPr/>
        </p:nvSpPr>
        <p:spPr>
          <a:xfrm rot="0">
            <a:off x="3242014" y="-79397"/>
            <a:ext cx="11803972" cy="2044743"/>
          </a:xfrm>
          <a:prstGeom prst="rect">
            <a:avLst/>
          </a:prstGeom>
        </p:spPr>
        <p:txBody>
          <a:bodyPr anchor="t" rtlCol="false" tIns="0" lIns="0" bIns="0" rIns="0">
            <a:spAutoFit/>
          </a:bodyPr>
          <a:lstStyle/>
          <a:p>
            <a:pPr algn="ctr">
              <a:lnSpc>
                <a:spcPts val="12319"/>
              </a:lnSpc>
            </a:pPr>
            <a:r>
              <a:rPr lang="en-US" sz="8799">
                <a:solidFill>
                  <a:srgbClr val="5170FF"/>
                </a:solidFill>
                <a:latin typeface="เอฟซี โอนิกิริ"/>
                <a:ea typeface="เอฟซี โอนิกิริ"/>
                <a:cs typeface="เอฟซี โอนิกิริ"/>
                <a:sym typeface="เอฟซี โอนิกิริ"/>
              </a:rPr>
              <a:t>STUDI KASUS YANG DI PILIH</a:t>
            </a:r>
          </a:p>
          <a:p>
            <a:pPr algn="ctr">
              <a:lnSpc>
                <a:spcPts val="12319"/>
              </a:lnSpc>
              <a:spcBef>
                <a:spcPct val="0"/>
              </a:spcBef>
            </a:pPr>
          </a:p>
        </p:txBody>
      </p:sp>
      <p:sp>
        <p:nvSpPr>
          <p:cNvPr name="TextBox 10" id="10"/>
          <p:cNvSpPr txBox="true"/>
          <p:nvPr/>
        </p:nvSpPr>
        <p:spPr>
          <a:xfrm rot="0">
            <a:off x="828189" y="4108041"/>
            <a:ext cx="16631622" cy="4839254"/>
          </a:xfrm>
          <a:prstGeom prst="rect">
            <a:avLst/>
          </a:prstGeom>
        </p:spPr>
        <p:txBody>
          <a:bodyPr anchor="t" rtlCol="false" tIns="0" lIns="0" bIns="0" rIns="0">
            <a:spAutoFit/>
          </a:bodyPr>
          <a:lstStyle/>
          <a:p>
            <a:pPr algn="ctr">
              <a:lnSpc>
                <a:spcPts val="4818"/>
              </a:lnSpc>
            </a:pPr>
            <a:r>
              <a:rPr lang="en-US" sz="2677" b="true">
                <a:solidFill>
                  <a:srgbClr val="000000"/>
                </a:solidFill>
                <a:latin typeface="Quicksand Bold"/>
                <a:ea typeface="Quicksand Bold"/>
                <a:cs typeface="Quicksand Bold"/>
                <a:sym typeface="Quicksand Bold"/>
              </a:rPr>
              <a:t>kelompok kami memilih studi kasus Sistem Rumah Sakit Digital. Sistem ini dirancang untuk membantu pengelolaan data pasien, jadwal dokter,antrean layanan, riwayat pemeriksaaan serta proses rujukan antar unit layanan dan kelompok kami menambahkan jadwal dokter bedasarkan nama.</a:t>
            </a:r>
          </a:p>
          <a:p>
            <a:pPr algn="ctr">
              <a:lnSpc>
                <a:spcPts val="4818"/>
              </a:lnSpc>
            </a:pPr>
            <a:r>
              <a:rPr lang="en-US" b="true" sz="2677">
                <a:solidFill>
                  <a:srgbClr val="000000"/>
                </a:solidFill>
                <a:latin typeface="Quicksand Bold"/>
                <a:ea typeface="Quicksand Bold"/>
                <a:cs typeface="Quicksand Bold"/>
                <a:sym typeface="Quicksand Bold"/>
              </a:rPr>
              <a:t>Saat ini pengelolaan data rumah sakit sering kali dilakukan secara manual sehingga berpotensi menyebabkan keterlambatan pencarian data, kesalahan pencatatan, dan kesulitan dalam mengelola antrean pasien. Oleh karena itu diperlukan sebuah sistem yang dapat membantu proses pengelolaan data secara lebih terstruktur dan efisien.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228606" y="-1143870"/>
            <a:ext cx="4528929" cy="3877895"/>
          </a:xfrm>
          <a:custGeom>
            <a:avLst/>
            <a:gdLst/>
            <a:ahLst/>
            <a:cxnLst/>
            <a:rect r="r" b="b" t="t" l="l"/>
            <a:pathLst>
              <a:path h="3877895" w="4528929">
                <a:moveTo>
                  <a:pt x="4528928" y="0"/>
                </a:moveTo>
                <a:lnTo>
                  <a:pt x="0" y="0"/>
                </a:lnTo>
                <a:lnTo>
                  <a:pt x="0" y="3877896"/>
                </a:lnTo>
                <a:lnTo>
                  <a:pt x="4528928" y="3877896"/>
                </a:lnTo>
                <a:lnTo>
                  <a:pt x="4528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18056" y="0"/>
            <a:ext cx="9017466" cy="10287000"/>
          </a:xfrm>
          <a:custGeom>
            <a:avLst/>
            <a:gdLst/>
            <a:ahLst/>
            <a:cxnLst/>
            <a:rect r="r" b="b" t="t" l="l"/>
            <a:pathLst>
              <a:path h="10287000" w="9017466">
                <a:moveTo>
                  <a:pt x="0" y="0"/>
                </a:moveTo>
                <a:lnTo>
                  <a:pt x="9017466" y="0"/>
                </a:lnTo>
                <a:lnTo>
                  <a:pt x="9017466" y="10287000"/>
                </a:lnTo>
                <a:lnTo>
                  <a:pt x="0" y="10287000"/>
                </a:lnTo>
                <a:lnTo>
                  <a:pt x="0" y="0"/>
                </a:lnTo>
                <a:close/>
              </a:path>
            </a:pathLst>
          </a:custGeom>
          <a:blipFill>
            <a:blip r:embed="rId6"/>
            <a:stretch>
              <a:fillRect l="-11573" t="-4554" r="0" b="-4554"/>
            </a:stretch>
          </a:blipFill>
        </p:spPr>
      </p:sp>
      <p:sp>
        <p:nvSpPr>
          <p:cNvPr name="TextBox 6" id="6"/>
          <p:cNvSpPr txBox="true"/>
          <p:nvPr/>
        </p:nvSpPr>
        <p:spPr>
          <a:xfrm rot="0">
            <a:off x="9366199" y="3140242"/>
            <a:ext cx="7893101" cy="2649045"/>
          </a:xfrm>
          <a:prstGeom prst="rect">
            <a:avLst/>
          </a:prstGeom>
        </p:spPr>
        <p:txBody>
          <a:bodyPr anchor="t" rtlCol="false" tIns="0" lIns="0" bIns="0" rIns="0">
            <a:spAutoFit/>
          </a:bodyPr>
          <a:lstStyle/>
          <a:p>
            <a:pPr algn="ctr">
              <a:lnSpc>
                <a:spcPts val="20482"/>
              </a:lnSpc>
              <a:spcBef>
                <a:spcPct val="0"/>
              </a:spcBef>
            </a:pPr>
            <a:r>
              <a:rPr lang="en-US" sz="14630">
                <a:solidFill>
                  <a:srgbClr val="5170FF"/>
                </a:solidFill>
                <a:latin typeface="เอฟซี โอนิกิริ"/>
                <a:ea typeface="เอฟซี โอนิกิริ"/>
                <a:cs typeface="เอฟซี โอนิกิริ"/>
                <a:sym typeface="เอฟซี โอนิกิริ"/>
              </a:rPr>
              <a:t>FLOWCHART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70095" y="813389"/>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787276" y="1028700"/>
            <a:ext cx="10971133" cy="5926647"/>
          </a:xfrm>
          <a:custGeom>
            <a:avLst/>
            <a:gdLst/>
            <a:ahLst/>
            <a:cxnLst/>
            <a:rect r="r" b="b" t="t" l="l"/>
            <a:pathLst>
              <a:path h="5926647" w="10971133">
                <a:moveTo>
                  <a:pt x="0" y="0"/>
                </a:moveTo>
                <a:lnTo>
                  <a:pt x="10971133" y="0"/>
                </a:lnTo>
                <a:lnTo>
                  <a:pt x="10971133" y="5926647"/>
                </a:lnTo>
                <a:lnTo>
                  <a:pt x="0" y="5926647"/>
                </a:lnTo>
                <a:lnTo>
                  <a:pt x="0" y="0"/>
                </a:lnTo>
                <a:close/>
              </a:path>
            </a:pathLst>
          </a:custGeom>
          <a:blipFill>
            <a:blip r:embed="rId4">
              <a:extLst>
                <a:ext uri="{96DAC541-7B7A-43D3-8B79-37D633B846F1}">
                  <asvg:svgBlip xmlns:asvg="http://schemas.microsoft.com/office/drawing/2016/SVG/main" r:embed="rId5"/>
                </a:ext>
              </a:extLst>
            </a:blip>
            <a:stretch>
              <a:fillRect l="-19959" t="0" r="0" b="-63216"/>
            </a:stretch>
          </a:blipFill>
          <a:ln cap="sq">
            <a:noFill/>
            <a:prstDash val="solid"/>
            <a:miter/>
          </a:ln>
        </p:spPr>
      </p:sp>
      <p:sp>
        <p:nvSpPr>
          <p:cNvPr name="Freeform 5" id="5"/>
          <p:cNvSpPr/>
          <p:nvPr/>
        </p:nvSpPr>
        <p:spPr>
          <a:xfrm flipH="false" flipV="false" rot="0">
            <a:off x="0" y="1028700"/>
            <a:ext cx="10971133" cy="5926647"/>
          </a:xfrm>
          <a:custGeom>
            <a:avLst/>
            <a:gdLst/>
            <a:ahLst/>
            <a:cxnLst/>
            <a:rect r="r" b="b" t="t" l="l"/>
            <a:pathLst>
              <a:path h="5926647" w="10971133">
                <a:moveTo>
                  <a:pt x="0" y="0"/>
                </a:moveTo>
                <a:lnTo>
                  <a:pt x="10971133" y="0"/>
                </a:lnTo>
                <a:lnTo>
                  <a:pt x="10971133" y="5926647"/>
                </a:lnTo>
                <a:lnTo>
                  <a:pt x="0" y="5926647"/>
                </a:lnTo>
                <a:lnTo>
                  <a:pt x="0" y="0"/>
                </a:lnTo>
                <a:close/>
              </a:path>
            </a:pathLst>
          </a:custGeom>
          <a:blipFill>
            <a:blip r:embed="rId4">
              <a:extLst>
                <a:ext uri="{96DAC541-7B7A-43D3-8B79-37D633B846F1}">
                  <asvg:svgBlip xmlns:asvg="http://schemas.microsoft.com/office/drawing/2016/SVG/main" r:embed="rId5"/>
                </a:ext>
              </a:extLst>
            </a:blip>
            <a:stretch>
              <a:fillRect l="0" t="0" r="-19959" b="-63216"/>
            </a:stretch>
          </a:blipFill>
          <a:ln cap="sq">
            <a:noFill/>
            <a:prstDash val="solid"/>
            <a:miter/>
          </a:ln>
        </p:spPr>
      </p:sp>
      <p:sp>
        <p:nvSpPr>
          <p:cNvPr name="Freeform 6" id="6"/>
          <p:cNvSpPr/>
          <p:nvPr/>
        </p:nvSpPr>
        <p:spPr>
          <a:xfrm flipH="false" flipV="false" rot="0">
            <a:off x="0" y="6887905"/>
            <a:ext cx="10299136" cy="2766607"/>
          </a:xfrm>
          <a:custGeom>
            <a:avLst/>
            <a:gdLst/>
            <a:ahLst/>
            <a:cxnLst/>
            <a:rect r="r" b="b" t="t" l="l"/>
            <a:pathLst>
              <a:path h="2766607" w="10299136">
                <a:moveTo>
                  <a:pt x="0" y="0"/>
                </a:moveTo>
                <a:lnTo>
                  <a:pt x="10299136" y="0"/>
                </a:lnTo>
                <a:lnTo>
                  <a:pt x="10299136" y="2766607"/>
                </a:lnTo>
                <a:lnTo>
                  <a:pt x="0" y="2766607"/>
                </a:lnTo>
                <a:lnTo>
                  <a:pt x="0" y="0"/>
                </a:lnTo>
                <a:close/>
              </a:path>
            </a:pathLst>
          </a:custGeom>
          <a:blipFill>
            <a:blip r:embed="rId4">
              <a:extLst>
                <a:ext uri="{96DAC541-7B7A-43D3-8B79-37D633B846F1}">
                  <asvg:svgBlip xmlns:asvg="http://schemas.microsoft.com/office/drawing/2016/SVG/main" r:embed="rId5"/>
                </a:ext>
              </a:extLst>
            </a:blip>
            <a:stretch>
              <a:fillRect l="0" t="-228227" r="-19959" b="0"/>
            </a:stretch>
          </a:blipFill>
          <a:ln cap="sq">
            <a:noFill/>
            <a:prstDash val="solid"/>
            <a:miter/>
          </a:ln>
        </p:spPr>
      </p:sp>
      <p:sp>
        <p:nvSpPr>
          <p:cNvPr name="Freeform 7" id="7"/>
          <p:cNvSpPr/>
          <p:nvPr/>
        </p:nvSpPr>
        <p:spPr>
          <a:xfrm flipH="false" flipV="false" rot="0">
            <a:off x="8201360" y="6887905"/>
            <a:ext cx="10384767" cy="2789610"/>
          </a:xfrm>
          <a:custGeom>
            <a:avLst/>
            <a:gdLst/>
            <a:ahLst/>
            <a:cxnLst/>
            <a:rect r="r" b="b" t="t" l="l"/>
            <a:pathLst>
              <a:path h="2789610" w="10384767">
                <a:moveTo>
                  <a:pt x="0" y="0"/>
                </a:moveTo>
                <a:lnTo>
                  <a:pt x="10384768" y="0"/>
                </a:lnTo>
                <a:lnTo>
                  <a:pt x="10384768" y="2789610"/>
                </a:lnTo>
                <a:lnTo>
                  <a:pt x="0" y="2789610"/>
                </a:lnTo>
                <a:lnTo>
                  <a:pt x="0" y="0"/>
                </a:lnTo>
                <a:close/>
              </a:path>
            </a:pathLst>
          </a:custGeom>
          <a:blipFill>
            <a:blip r:embed="rId4">
              <a:extLst>
                <a:ext uri="{96DAC541-7B7A-43D3-8B79-37D633B846F1}">
                  <asvg:svgBlip xmlns:asvg="http://schemas.microsoft.com/office/drawing/2016/SVG/main" r:embed="rId5"/>
                </a:ext>
              </a:extLst>
            </a:blip>
            <a:stretch>
              <a:fillRect l="-19959" t="-228227" r="0" b="0"/>
            </a:stretch>
          </a:blipFill>
          <a:ln cap="sq">
            <a:noFill/>
            <a:prstDash val="solid"/>
            <a:miter/>
          </a:ln>
        </p:spPr>
      </p:sp>
      <p:sp>
        <p:nvSpPr>
          <p:cNvPr name="TextBox 8" id="8"/>
          <p:cNvSpPr txBox="true"/>
          <p:nvPr/>
        </p:nvSpPr>
        <p:spPr>
          <a:xfrm rot="0">
            <a:off x="3096181" y="-93052"/>
            <a:ext cx="12095639" cy="2072054"/>
          </a:xfrm>
          <a:prstGeom prst="rect">
            <a:avLst/>
          </a:prstGeom>
        </p:spPr>
        <p:txBody>
          <a:bodyPr anchor="t" rtlCol="false" tIns="0" lIns="0" bIns="0" rIns="0">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ANALISIS KEBUTUHAN SISTEM</a:t>
            </a:r>
          </a:p>
        </p:txBody>
      </p:sp>
      <p:sp>
        <p:nvSpPr>
          <p:cNvPr name="TextBox 9" id="9"/>
          <p:cNvSpPr txBox="true"/>
          <p:nvPr/>
        </p:nvSpPr>
        <p:spPr>
          <a:xfrm rot="0">
            <a:off x="696745" y="3345904"/>
            <a:ext cx="17229439" cy="5517341"/>
          </a:xfrm>
          <a:prstGeom prst="rect">
            <a:avLst/>
          </a:prstGeom>
        </p:spPr>
        <p:txBody>
          <a:bodyPr anchor="t" rtlCol="false" tIns="0" lIns="0" bIns="0" rIns="0">
            <a:spAutoFit/>
          </a:bodyPr>
          <a:lstStyle/>
          <a:p>
            <a:pPr algn="ctr">
              <a:lnSpc>
                <a:spcPts val="4894"/>
              </a:lnSpc>
            </a:pPr>
            <a:r>
              <a:rPr lang="en-US" b="true" sz="2718">
                <a:solidFill>
                  <a:srgbClr val="000000"/>
                </a:solidFill>
                <a:latin typeface="Quicksand Bold"/>
                <a:ea typeface="Quicksand Bold"/>
                <a:cs typeface="Quicksand Bold"/>
                <a:sym typeface="Quicksand Bold"/>
              </a:rPr>
              <a:t>Sistem Rumah Sakit Digital memiliki beberapa kebutuhan fungsional utama. Pertama, sistem harus melakukan pengelolaan data pasien dengan kemampuan menambah, mencari berdasarkan ID, menampilkan, dan menghapus data pasien. Kedua, sistem menyediakan manajemen jadwal dokter dengan menampilkan daftar dokter beserta spesialisasi dan jam praktik, serta fitur pengurutan nama dokter secara alfabetis (A-Z). Ketiga, sistem mengelola antrean pelayanan otomatis dengan prinsip FIFO yang memberikan nomor antrean dan menampilkan posisi pasien. Keempat, sistem menyimpan dan menampilkan riwayat pemeriksaan serta rekam medis pasien agar dapat diakses untuk keperluan pemeriksaan berikutnya. Terakhir, sistem memfasilitasi pengelolaan rujukan pasien antar unit pelayanan dengan pencatatan lengkap untuk memastikan kontinuitas perawatan.</a:t>
            </a:r>
          </a:p>
        </p:txBody>
      </p:sp>
      <p:sp>
        <p:nvSpPr>
          <p:cNvPr name="Freeform 10" id="10"/>
          <p:cNvSpPr/>
          <p:nvPr/>
        </p:nvSpPr>
        <p:spPr>
          <a:xfrm flipH="true" flipV="false" rot="0">
            <a:off x="14057199" y="-560847"/>
            <a:ext cx="4528929" cy="3877895"/>
          </a:xfrm>
          <a:custGeom>
            <a:avLst/>
            <a:gdLst/>
            <a:ahLst/>
            <a:cxnLst/>
            <a:rect r="r" b="b" t="t" l="l"/>
            <a:pathLst>
              <a:path h="3877895" w="4528929">
                <a:moveTo>
                  <a:pt x="4528929" y="0"/>
                </a:moveTo>
                <a:lnTo>
                  <a:pt x="0" y="0"/>
                </a:lnTo>
                <a:lnTo>
                  <a:pt x="0" y="3877895"/>
                </a:lnTo>
                <a:lnTo>
                  <a:pt x="4528929" y="3877895"/>
                </a:lnTo>
                <a:lnTo>
                  <a:pt x="45289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43497" y="1626249"/>
            <a:ext cx="12146779" cy="6561735"/>
          </a:xfrm>
          <a:custGeom>
            <a:avLst/>
            <a:gdLst/>
            <a:ahLst/>
            <a:cxnLst/>
            <a:rect r="r" b="b" t="t" l="l"/>
            <a:pathLst>
              <a:path h="6561735" w="12146779">
                <a:moveTo>
                  <a:pt x="0" y="0"/>
                </a:moveTo>
                <a:lnTo>
                  <a:pt x="12146780" y="0"/>
                </a:lnTo>
                <a:lnTo>
                  <a:pt x="12146780" y="6561735"/>
                </a:lnTo>
                <a:lnTo>
                  <a:pt x="0" y="6561735"/>
                </a:lnTo>
                <a:lnTo>
                  <a:pt x="0" y="0"/>
                </a:lnTo>
                <a:close/>
              </a:path>
            </a:pathLst>
          </a:custGeom>
          <a:blipFill>
            <a:blip r:embed="rId4">
              <a:extLst>
                <a:ext uri="{96DAC541-7B7A-43D3-8B79-37D633B846F1}">
                  <asvg:svgBlip xmlns:asvg="http://schemas.microsoft.com/office/drawing/2016/SVG/main" r:embed="rId5"/>
                </a:ext>
              </a:extLst>
            </a:blip>
            <a:stretch>
              <a:fillRect l="-19959" t="0" r="0" b="-63216"/>
            </a:stretch>
          </a:blipFill>
          <a:ln cap="sq">
            <a:noFill/>
            <a:prstDash val="solid"/>
            <a:miter/>
          </a:ln>
        </p:spPr>
      </p:sp>
      <p:sp>
        <p:nvSpPr>
          <p:cNvPr name="Freeform 4" id="4"/>
          <p:cNvSpPr/>
          <p:nvPr/>
        </p:nvSpPr>
        <p:spPr>
          <a:xfrm flipH="false" flipV="false" rot="0">
            <a:off x="-242727" y="1669315"/>
            <a:ext cx="11844179" cy="6398269"/>
          </a:xfrm>
          <a:custGeom>
            <a:avLst/>
            <a:gdLst/>
            <a:ahLst/>
            <a:cxnLst/>
            <a:rect r="r" b="b" t="t" l="l"/>
            <a:pathLst>
              <a:path h="6398269" w="11844179">
                <a:moveTo>
                  <a:pt x="0" y="0"/>
                </a:moveTo>
                <a:lnTo>
                  <a:pt x="11844179" y="0"/>
                </a:lnTo>
                <a:lnTo>
                  <a:pt x="11844179" y="6398270"/>
                </a:lnTo>
                <a:lnTo>
                  <a:pt x="0" y="6398270"/>
                </a:lnTo>
                <a:lnTo>
                  <a:pt x="0" y="0"/>
                </a:lnTo>
                <a:close/>
              </a:path>
            </a:pathLst>
          </a:custGeom>
          <a:blipFill>
            <a:blip r:embed="rId4">
              <a:extLst>
                <a:ext uri="{96DAC541-7B7A-43D3-8B79-37D633B846F1}">
                  <asvg:svgBlip xmlns:asvg="http://schemas.microsoft.com/office/drawing/2016/SVG/main" r:embed="rId5"/>
                </a:ext>
              </a:extLst>
            </a:blip>
            <a:stretch>
              <a:fillRect l="0" t="0" r="-19959" b="-63216"/>
            </a:stretch>
          </a:blipFill>
          <a:ln cap="sq">
            <a:noFill/>
            <a:prstDash val="solid"/>
            <a:miter/>
          </a:ln>
        </p:spPr>
      </p:sp>
      <p:sp>
        <p:nvSpPr>
          <p:cNvPr name="Freeform 5" id="5"/>
          <p:cNvSpPr/>
          <p:nvPr/>
        </p:nvSpPr>
        <p:spPr>
          <a:xfrm flipH="false" flipV="false" rot="0">
            <a:off x="0" y="6887905"/>
            <a:ext cx="10299136" cy="2766607"/>
          </a:xfrm>
          <a:custGeom>
            <a:avLst/>
            <a:gdLst/>
            <a:ahLst/>
            <a:cxnLst/>
            <a:rect r="r" b="b" t="t" l="l"/>
            <a:pathLst>
              <a:path h="2766607" w="10299136">
                <a:moveTo>
                  <a:pt x="0" y="0"/>
                </a:moveTo>
                <a:lnTo>
                  <a:pt x="10299136" y="0"/>
                </a:lnTo>
                <a:lnTo>
                  <a:pt x="10299136" y="2766607"/>
                </a:lnTo>
                <a:lnTo>
                  <a:pt x="0" y="2766607"/>
                </a:lnTo>
                <a:lnTo>
                  <a:pt x="0" y="0"/>
                </a:lnTo>
                <a:close/>
              </a:path>
            </a:pathLst>
          </a:custGeom>
          <a:blipFill>
            <a:blip r:embed="rId4">
              <a:extLst>
                <a:ext uri="{96DAC541-7B7A-43D3-8B79-37D633B846F1}">
                  <asvg:svgBlip xmlns:asvg="http://schemas.microsoft.com/office/drawing/2016/SVG/main" r:embed="rId5"/>
                </a:ext>
              </a:extLst>
            </a:blip>
            <a:stretch>
              <a:fillRect l="0" t="-228227" r="-19959" b="0"/>
            </a:stretch>
          </a:blipFill>
          <a:ln cap="sq">
            <a:noFill/>
            <a:prstDash val="solid"/>
            <a:miter/>
          </a:ln>
        </p:spPr>
      </p:sp>
      <p:sp>
        <p:nvSpPr>
          <p:cNvPr name="Freeform 6" id="6"/>
          <p:cNvSpPr/>
          <p:nvPr/>
        </p:nvSpPr>
        <p:spPr>
          <a:xfrm flipH="false" flipV="false" rot="0">
            <a:off x="8105666" y="6887905"/>
            <a:ext cx="10182334" cy="2735231"/>
          </a:xfrm>
          <a:custGeom>
            <a:avLst/>
            <a:gdLst/>
            <a:ahLst/>
            <a:cxnLst/>
            <a:rect r="r" b="b" t="t" l="l"/>
            <a:pathLst>
              <a:path h="2735231" w="10182334">
                <a:moveTo>
                  <a:pt x="0" y="0"/>
                </a:moveTo>
                <a:lnTo>
                  <a:pt x="10182334" y="0"/>
                </a:lnTo>
                <a:lnTo>
                  <a:pt x="10182334" y="2735231"/>
                </a:lnTo>
                <a:lnTo>
                  <a:pt x="0" y="2735231"/>
                </a:lnTo>
                <a:lnTo>
                  <a:pt x="0" y="0"/>
                </a:lnTo>
                <a:close/>
              </a:path>
            </a:pathLst>
          </a:custGeom>
          <a:blipFill>
            <a:blip r:embed="rId4">
              <a:extLst>
                <a:ext uri="{96DAC541-7B7A-43D3-8B79-37D633B846F1}">
                  <asvg:svgBlip xmlns:asvg="http://schemas.microsoft.com/office/drawing/2016/SVG/main" r:embed="rId5"/>
                </a:ext>
              </a:extLst>
            </a:blip>
            <a:stretch>
              <a:fillRect l="-19959" t="-228227" r="0" b="0"/>
            </a:stretch>
          </a:blipFill>
          <a:ln cap="sq">
            <a:noFill/>
            <a:prstDash val="solid"/>
            <a:miter/>
          </a:ln>
        </p:spPr>
      </p:sp>
      <p:sp>
        <p:nvSpPr>
          <p:cNvPr name="TextBox 7" id="7"/>
          <p:cNvSpPr txBox="true"/>
          <p:nvPr/>
        </p:nvSpPr>
        <p:spPr>
          <a:xfrm rot="0">
            <a:off x="4109993" y="-228600"/>
            <a:ext cx="10068014" cy="2667785"/>
          </a:xfrm>
          <a:prstGeom prst="rect">
            <a:avLst/>
          </a:prstGeom>
        </p:spPr>
        <p:txBody>
          <a:bodyPr anchor="t" rtlCol="false" tIns="0" lIns="0" bIns="0" rIns="0">
            <a:spAutoFit/>
          </a:bodyPr>
          <a:lstStyle/>
          <a:p>
            <a:pPr algn="ctr">
              <a:lnSpc>
                <a:spcPts val="16658"/>
              </a:lnSpc>
              <a:spcBef>
                <a:spcPct val="0"/>
              </a:spcBef>
            </a:pPr>
            <a:r>
              <a:rPr lang="en-US" sz="11899">
                <a:solidFill>
                  <a:srgbClr val="5170FF"/>
                </a:solidFill>
                <a:latin typeface="เอฟซี โอนิกิริ"/>
                <a:ea typeface="เอฟซี โอนิกิริ"/>
                <a:cs typeface="เอฟซี โอนิกิริ"/>
                <a:sym typeface="เอฟซี โอนิกิริ"/>
              </a:rPr>
              <a:t>KERANGKA UTAMA</a:t>
            </a:r>
          </a:p>
        </p:txBody>
      </p:sp>
      <p:sp>
        <p:nvSpPr>
          <p:cNvPr name="TextBox 8" id="8"/>
          <p:cNvSpPr txBox="true"/>
          <p:nvPr/>
        </p:nvSpPr>
        <p:spPr>
          <a:xfrm rot="0">
            <a:off x="885139" y="4059238"/>
            <a:ext cx="17193364" cy="5952090"/>
          </a:xfrm>
          <a:prstGeom prst="rect">
            <a:avLst/>
          </a:prstGeom>
        </p:spPr>
        <p:txBody>
          <a:bodyPr anchor="t" rtlCol="false" tIns="0" lIns="0" bIns="0" rIns="0">
            <a:spAutoFit/>
          </a:bodyPr>
          <a:lstStyle/>
          <a:p>
            <a:pPr algn="just" marL="569670" indent="-284835" lvl="1">
              <a:lnSpc>
                <a:spcPts val="4749"/>
              </a:lnSpc>
              <a:buFont typeface="Arial"/>
              <a:buChar char="•"/>
            </a:pPr>
            <a:r>
              <a:rPr lang="en-US" b="true" sz="2638">
                <a:solidFill>
                  <a:srgbClr val="000000"/>
                </a:solidFill>
                <a:latin typeface="Quicksand Bold"/>
                <a:ea typeface="Quicksand Bold"/>
                <a:cs typeface="Quicksand Bold"/>
                <a:sym typeface="Quicksand Bold"/>
              </a:rPr>
              <a:t>Menampilkan jadwal dokter.</a:t>
            </a:r>
          </a:p>
          <a:p>
            <a:pPr algn="just" marL="569670" indent="-284835" lvl="1">
              <a:lnSpc>
                <a:spcPts val="4749"/>
              </a:lnSpc>
              <a:buFont typeface="Arial"/>
              <a:buChar char="•"/>
            </a:pPr>
            <a:r>
              <a:rPr lang="en-US" b="true" sz="2638">
                <a:solidFill>
                  <a:srgbClr val="000000"/>
                </a:solidFill>
                <a:latin typeface="Quicksand Bold"/>
                <a:ea typeface="Quicksand Bold"/>
                <a:cs typeface="Quicksand Bold"/>
                <a:sym typeface="Quicksand Bold"/>
              </a:rPr>
              <a:t>Menambah data pasien baru</a:t>
            </a:r>
          </a:p>
          <a:p>
            <a:pPr algn="just" marL="569670" indent="-284835" lvl="1">
              <a:lnSpc>
                <a:spcPts val="4749"/>
              </a:lnSpc>
              <a:buFont typeface="Arial"/>
              <a:buChar char="•"/>
            </a:pPr>
            <a:r>
              <a:rPr lang="en-US" b="true" sz="2638">
                <a:solidFill>
                  <a:srgbClr val="000000"/>
                </a:solidFill>
                <a:latin typeface="Quicksand Bold"/>
                <a:ea typeface="Quicksand Bold"/>
                <a:cs typeface="Quicksand Bold"/>
                <a:sym typeface="Quicksand Bold"/>
              </a:rPr>
              <a:t>Me</a:t>
            </a:r>
            <a:r>
              <a:rPr lang="en-US" b="true" sz="2638">
                <a:solidFill>
                  <a:srgbClr val="000000"/>
                </a:solidFill>
                <a:latin typeface="Quicksand Bold"/>
                <a:ea typeface="Quicksand Bold"/>
                <a:cs typeface="Quicksand Bold"/>
                <a:sym typeface="Quicksand Bold"/>
              </a:rPr>
              <a:t>ncari data pasien berdasarkan ID pasien.</a:t>
            </a:r>
          </a:p>
          <a:p>
            <a:pPr algn="just" marL="569670" indent="-284835" lvl="1">
              <a:lnSpc>
                <a:spcPts val="4749"/>
              </a:lnSpc>
              <a:buFont typeface="Arial"/>
              <a:buChar char="•"/>
            </a:pPr>
            <a:r>
              <a:rPr lang="en-US" b="true" sz="2638">
                <a:solidFill>
                  <a:srgbClr val="000000"/>
                </a:solidFill>
                <a:latin typeface="Quicksand Bold"/>
                <a:ea typeface="Quicksand Bold"/>
                <a:cs typeface="Quicksand Bold"/>
                <a:sym typeface="Quicksand Bold"/>
              </a:rPr>
              <a:t>Menghapus data pasien.</a:t>
            </a:r>
          </a:p>
          <a:p>
            <a:pPr algn="just" marL="569670" indent="-284835" lvl="1">
              <a:lnSpc>
                <a:spcPts val="4749"/>
              </a:lnSpc>
              <a:buFont typeface="Arial"/>
              <a:buChar char="•"/>
            </a:pPr>
            <a:r>
              <a:rPr lang="en-US" b="true" sz="2638">
                <a:solidFill>
                  <a:srgbClr val="000000"/>
                </a:solidFill>
                <a:latin typeface="Quicksand Bold"/>
                <a:ea typeface="Quicksand Bold"/>
                <a:cs typeface="Quicksand Bold"/>
                <a:sym typeface="Quicksand Bold"/>
              </a:rPr>
              <a:t>Menambahkan pasien ke antrean pelayanan.</a:t>
            </a:r>
          </a:p>
          <a:p>
            <a:pPr algn="just" marL="569670" indent="-284835" lvl="1">
              <a:lnSpc>
                <a:spcPts val="4749"/>
              </a:lnSpc>
              <a:buFont typeface="Arial"/>
              <a:buChar char="•"/>
            </a:pPr>
            <a:r>
              <a:rPr lang="en-US" b="true" sz="2638">
                <a:solidFill>
                  <a:srgbClr val="000000"/>
                </a:solidFill>
                <a:latin typeface="Quicksand Bold"/>
                <a:ea typeface="Quicksand Bold"/>
                <a:cs typeface="Quicksand Bold"/>
                <a:sym typeface="Quicksand Bold"/>
              </a:rPr>
              <a:t>Mengelola proses rujukan pasien ke unit lain</a:t>
            </a:r>
          </a:p>
          <a:p>
            <a:pPr algn="just" marL="569670" indent="-284835" lvl="1">
              <a:lnSpc>
                <a:spcPts val="4749"/>
              </a:lnSpc>
              <a:buFont typeface="Arial"/>
              <a:buChar char="•"/>
            </a:pPr>
            <a:r>
              <a:rPr lang="en-US" b="true" sz="2638">
                <a:solidFill>
                  <a:srgbClr val="000000"/>
                </a:solidFill>
                <a:latin typeface="Quicksand Bold"/>
                <a:ea typeface="Quicksand Bold"/>
                <a:cs typeface="Quicksand Bold"/>
                <a:sym typeface="Quicksand Bold"/>
              </a:rPr>
              <a:t>Mengurutkan jadwal dokter berdasarkan nama.</a:t>
            </a:r>
          </a:p>
          <a:p>
            <a:pPr algn="just" marL="569670" indent="-284835" lvl="1">
              <a:lnSpc>
                <a:spcPts val="4749"/>
              </a:lnSpc>
              <a:buFont typeface="Arial"/>
              <a:buChar char="•"/>
            </a:pPr>
            <a:r>
              <a:rPr lang="en-US" b="true" sz="2638">
                <a:solidFill>
                  <a:srgbClr val="000000"/>
                </a:solidFill>
                <a:latin typeface="Quicksand Bold"/>
                <a:ea typeface="Quicksand Bold"/>
                <a:cs typeface="Quicksand Bold"/>
                <a:sym typeface="Quicksand Bold"/>
              </a:rPr>
              <a:t>Menyimpan dan menampilkan riwayat pemeriksaan pasien.</a:t>
            </a:r>
          </a:p>
          <a:p>
            <a:pPr algn="just">
              <a:lnSpc>
                <a:spcPts val="4749"/>
              </a:lnSpc>
            </a:pPr>
          </a:p>
          <a:p>
            <a:pPr algn="just">
              <a:lnSpc>
                <a:spcPts val="4749"/>
              </a:lnSpc>
            </a:pPr>
          </a:p>
        </p:txBody>
      </p:sp>
      <p:sp>
        <p:nvSpPr>
          <p:cNvPr name="Freeform 9" id="9"/>
          <p:cNvSpPr/>
          <p:nvPr/>
        </p:nvSpPr>
        <p:spPr>
          <a:xfrm flipH="true" flipV="false" rot="0">
            <a:off x="13759071" y="5380405"/>
            <a:ext cx="4528929" cy="3877895"/>
          </a:xfrm>
          <a:custGeom>
            <a:avLst/>
            <a:gdLst/>
            <a:ahLst/>
            <a:cxnLst/>
            <a:rect r="r" b="b" t="t" l="l"/>
            <a:pathLst>
              <a:path h="3877895" w="4528929">
                <a:moveTo>
                  <a:pt x="4528929" y="0"/>
                </a:moveTo>
                <a:lnTo>
                  <a:pt x="0" y="0"/>
                </a:lnTo>
                <a:lnTo>
                  <a:pt x="0" y="3877895"/>
                </a:lnTo>
                <a:lnTo>
                  <a:pt x="4528929" y="3877895"/>
                </a:lnTo>
                <a:lnTo>
                  <a:pt x="45289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1122752">
            <a:off x="1338921" y="-206387"/>
            <a:ext cx="2513321" cy="3242995"/>
          </a:xfrm>
          <a:custGeom>
            <a:avLst/>
            <a:gdLst/>
            <a:ahLst/>
            <a:cxnLst/>
            <a:rect r="r" b="b" t="t" l="l"/>
            <a:pathLst>
              <a:path h="3242995" w="2513321">
                <a:moveTo>
                  <a:pt x="2513322" y="0"/>
                </a:moveTo>
                <a:lnTo>
                  <a:pt x="0" y="0"/>
                </a:lnTo>
                <a:lnTo>
                  <a:pt x="0" y="3242996"/>
                </a:lnTo>
                <a:lnTo>
                  <a:pt x="2513322" y="3242996"/>
                </a:lnTo>
                <a:lnTo>
                  <a:pt x="251332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937435" y="2015588"/>
            <a:ext cx="11305549" cy="6107299"/>
          </a:xfrm>
          <a:custGeom>
            <a:avLst/>
            <a:gdLst/>
            <a:ahLst/>
            <a:cxnLst/>
            <a:rect r="r" b="b" t="t" l="l"/>
            <a:pathLst>
              <a:path h="6107299" w="11305549">
                <a:moveTo>
                  <a:pt x="0" y="0"/>
                </a:moveTo>
                <a:lnTo>
                  <a:pt x="11305549" y="0"/>
                </a:lnTo>
                <a:lnTo>
                  <a:pt x="11305549" y="6107299"/>
                </a:lnTo>
                <a:lnTo>
                  <a:pt x="0" y="6107299"/>
                </a:lnTo>
                <a:lnTo>
                  <a:pt x="0" y="0"/>
                </a:lnTo>
                <a:close/>
              </a:path>
            </a:pathLst>
          </a:custGeom>
          <a:blipFill>
            <a:blip r:embed="rId4">
              <a:extLst>
                <a:ext uri="{96DAC541-7B7A-43D3-8B79-37D633B846F1}">
                  <asvg:svgBlip xmlns:asvg="http://schemas.microsoft.com/office/drawing/2016/SVG/main" r:embed="rId5"/>
                </a:ext>
              </a:extLst>
            </a:blip>
            <a:stretch>
              <a:fillRect l="-19959" t="0" r="0" b="-63216"/>
            </a:stretch>
          </a:blipFill>
          <a:ln cap="sq">
            <a:noFill/>
            <a:prstDash val="solid"/>
            <a:miter/>
          </a:ln>
        </p:spPr>
      </p:sp>
      <p:sp>
        <p:nvSpPr>
          <p:cNvPr name="Freeform 5" id="5"/>
          <p:cNvSpPr/>
          <p:nvPr/>
        </p:nvSpPr>
        <p:spPr>
          <a:xfrm flipH="false" flipV="false" rot="0">
            <a:off x="0" y="2015588"/>
            <a:ext cx="11305549" cy="6107299"/>
          </a:xfrm>
          <a:custGeom>
            <a:avLst/>
            <a:gdLst/>
            <a:ahLst/>
            <a:cxnLst/>
            <a:rect r="r" b="b" t="t" l="l"/>
            <a:pathLst>
              <a:path h="6107299" w="11305549">
                <a:moveTo>
                  <a:pt x="0" y="0"/>
                </a:moveTo>
                <a:lnTo>
                  <a:pt x="11305549" y="0"/>
                </a:lnTo>
                <a:lnTo>
                  <a:pt x="11305549" y="6107299"/>
                </a:lnTo>
                <a:lnTo>
                  <a:pt x="0" y="6107299"/>
                </a:lnTo>
                <a:lnTo>
                  <a:pt x="0" y="0"/>
                </a:lnTo>
                <a:close/>
              </a:path>
            </a:pathLst>
          </a:custGeom>
          <a:blipFill>
            <a:blip r:embed="rId4">
              <a:extLst>
                <a:ext uri="{96DAC541-7B7A-43D3-8B79-37D633B846F1}">
                  <asvg:svgBlip xmlns:asvg="http://schemas.microsoft.com/office/drawing/2016/SVG/main" r:embed="rId5"/>
                </a:ext>
              </a:extLst>
            </a:blip>
            <a:stretch>
              <a:fillRect l="0" t="0" r="-19959" b="-63216"/>
            </a:stretch>
          </a:blipFill>
          <a:ln cap="sq">
            <a:noFill/>
            <a:prstDash val="solid"/>
            <a:miter/>
          </a:ln>
        </p:spPr>
      </p:sp>
      <p:sp>
        <p:nvSpPr>
          <p:cNvPr name="Freeform 6" id="6"/>
          <p:cNvSpPr/>
          <p:nvPr/>
        </p:nvSpPr>
        <p:spPr>
          <a:xfrm flipH="false" flipV="false" rot="0">
            <a:off x="0" y="6887905"/>
            <a:ext cx="11305549" cy="3036955"/>
          </a:xfrm>
          <a:custGeom>
            <a:avLst/>
            <a:gdLst/>
            <a:ahLst/>
            <a:cxnLst/>
            <a:rect r="r" b="b" t="t" l="l"/>
            <a:pathLst>
              <a:path h="3036955" w="11305549">
                <a:moveTo>
                  <a:pt x="0" y="0"/>
                </a:moveTo>
                <a:lnTo>
                  <a:pt x="11305549" y="0"/>
                </a:lnTo>
                <a:lnTo>
                  <a:pt x="11305549" y="3036955"/>
                </a:lnTo>
                <a:lnTo>
                  <a:pt x="0" y="3036955"/>
                </a:lnTo>
                <a:lnTo>
                  <a:pt x="0" y="0"/>
                </a:lnTo>
                <a:close/>
              </a:path>
            </a:pathLst>
          </a:custGeom>
          <a:blipFill>
            <a:blip r:embed="rId4">
              <a:extLst>
                <a:ext uri="{96DAC541-7B7A-43D3-8B79-37D633B846F1}">
                  <asvg:svgBlip xmlns:asvg="http://schemas.microsoft.com/office/drawing/2016/SVG/main" r:embed="rId5"/>
                </a:ext>
              </a:extLst>
            </a:blip>
            <a:stretch>
              <a:fillRect l="0" t="-228227" r="-19959" b="0"/>
            </a:stretch>
          </a:blipFill>
          <a:ln cap="sq">
            <a:noFill/>
            <a:prstDash val="solid"/>
            <a:miter/>
          </a:ln>
        </p:spPr>
      </p:sp>
      <p:sp>
        <p:nvSpPr>
          <p:cNvPr name="Freeform 7" id="7"/>
          <p:cNvSpPr/>
          <p:nvPr/>
        </p:nvSpPr>
        <p:spPr>
          <a:xfrm flipH="false" flipV="false" rot="0">
            <a:off x="7102541" y="6932257"/>
            <a:ext cx="11140442" cy="2992603"/>
          </a:xfrm>
          <a:custGeom>
            <a:avLst/>
            <a:gdLst/>
            <a:ahLst/>
            <a:cxnLst/>
            <a:rect r="r" b="b" t="t" l="l"/>
            <a:pathLst>
              <a:path h="2992603" w="11140442">
                <a:moveTo>
                  <a:pt x="0" y="0"/>
                </a:moveTo>
                <a:lnTo>
                  <a:pt x="11140443" y="0"/>
                </a:lnTo>
                <a:lnTo>
                  <a:pt x="11140443" y="2992603"/>
                </a:lnTo>
                <a:lnTo>
                  <a:pt x="0" y="2992603"/>
                </a:lnTo>
                <a:lnTo>
                  <a:pt x="0" y="0"/>
                </a:lnTo>
                <a:close/>
              </a:path>
            </a:pathLst>
          </a:custGeom>
          <a:blipFill>
            <a:blip r:embed="rId4">
              <a:extLst>
                <a:ext uri="{96DAC541-7B7A-43D3-8B79-37D633B846F1}">
                  <asvg:svgBlip xmlns:asvg="http://schemas.microsoft.com/office/drawing/2016/SVG/main" r:embed="rId5"/>
                </a:ext>
              </a:extLst>
            </a:blip>
            <a:stretch>
              <a:fillRect l="-19959" t="-228227" r="0" b="0"/>
            </a:stretch>
          </a:blipFill>
          <a:ln cap="sq">
            <a:noFill/>
            <a:prstDash val="solid"/>
            <a:miter/>
          </a:ln>
        </p:spPr>
      </p:sp>
      <p:sp>
        <p:nvSpPr>
          <p:cNvPr name="Freeform 8" id="8"/>
          <p:cNvSpPr/>
          <p:nvPr/>
        </p:nvSpPr>
        <p:spPr>
          <a:xfrm flipH="false" flipV="false" rot="1027090">
            <a:off x="15017226" y="-581684"/>
            <a:ext cx="3309474" cy="3904984"/>
          </a:xfrm>
          <a:custGeom>
            <a:avLst/>
            <a:gdLst/>
            <a:ahLst/>
            <a:cxnLst/>
            <a:rect r="r" b="b" t="t" l="l"/>
            <a:pathLst>
              <a:path h="3904984" w="3309474">
                <a:moveTo>
                  <a:pt x="0" y="0"/>
                </a:moveTo>
                <a:lnTo>
                  <a:pt x="3309474" y="0"/>
                </a:lnTo>
                <a:lnTo>
                  <a:pt x="3309474" y="3904983"/>
                </a:lnTo>
                <a:lnTo>
                  <a:pt x="0" y="39049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9" id="9"/>
          <p:cNvSpPr txBox="true"/>
          <p:nvPr/>
        </p:nvSpPr>
        <p:spPr>
          <a:xfrm rot="0">
            <a:off x="1890434" y="-171450"/>
            <a:ext cx="14507132" cy="2319425"/>
          </a:xfrm>
          <a:prstGeom prst="rect">
            <a:avLst/>
          </a:prstGeom>
        </p:spPr>
        <p:txBody>
          <a:bodyPr anchor="t" rtlCol="false" tIns="0" lIns="0" bIns="0" rIns="0">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STRUKTUR DATA YANG DI GUNAKAN</a:t>
            </a:r>
          </a:p>
        </p:txBody>
      </p:sp>
      <p:sp>
        <p:nvSpPr>
          <p:cNvPr name="TextBox 10" id="10"/>
          <p:cNvSpPr txBox="true"/>
          <p:nvPr/>
        </p:nvSpPr>
        <p:spPr>
          <a:xfrm rot="0">
            <a:off x="824954" y="4183765"/>
            <a:ext cx="17463046" cy="6958935"/>
          </a:xfrm>
          <a:prstGeom prst="rect">
            <a:avLst/>
          </a:prstGeom>
        </p:spPr>
        <p:txBody>
          <a:bodyPr anchor="t" rtlCol="false" tIns="0" lIns="0" bIns="0" rIns="0">
            <a:spAutoFit/>
          </a:bodyPr>
          <a:lstStyle/>
          <a:p>
            <a:pPr algn="l" marL="604604" indent="-302302" lvl="1">
              <a:lnSpc>
                <a:spcPts val="5040"/>
              </a:lnSpc>
              <a:buFont typeface="Arial"/>
              <a:buChar char="•"/>
            </a:pPr>
            <a:r>
              <a:rPr lang="en-US" b="true" sz="2800">
                <a:solidFill>
                  <a:srgbClr val="000000"/>
                </a:solidFill>
                <a:latin typeface="Quicksand Bold"/>
                <a:ea typeface="Quicksand Bold"/>
                <a:cs typeface="Quicksand Bold"/>
                <a:sym typeface="Quicksand Bold"/>
              </a:rPr>
              <a:t>Struct</a:t>
            </a:r>
          </a:p>
          <a:p>
            <a:pPr algn="l">
              <a:lnSpc>
                <a:spcPts val="5040"/>
              </a:lnSpc>
            </a:pPr>
            <a:r>
              <a:rPr lang="en-US" sz="2800" b="true">
                <a:solidFill>
                  <a:srgbClr val="000000"/>
                </a:solidFill>
                <a:latin typeface="Quicksand Bold"/>
                <a:ea typeface="Quicksand Bold"/>
                <a:cs typeface="Quicksand Bold"/>
                <a:sym typeface="Quicksand Bold"/>
              </a:rPr>
              <a:t>Digu</a:t>
            </a:r>
            <a:r>
              <a:rPr lang="en-US" b="true" sz="2800">
                <a:solidFill>
                  <a:srgbClr val="000000"/>
                </a:solidFill>
                <a:latin typeface="Quicksand Bold"/>
                <a:ea typeface="Quicksand Bold"/>
                <a:cs typeface="Quicksand Bold"/>
                <a:sym typeface="Quicksand Bold"/>
              </a:rPr>
              <a:t>nakan untuk mengelompokkan data pasien dan data dokter.</a:t>
            </a:r>
          </a:p>
          <a:p>
            <a:pPr algn="l" marL="604604" indent="-302302" lvl="1">
              <a:lnSpc>
                <a:spcPts val="5040"/>
              </a:lnSpc>
              <a:buFont typeface="Arial"/>
              <a:buChar char="•"/>
            </a:pPr>
            <a:r>
              <a:rPr lang="en-US" b="true" sz="2800">
                <a:solidFill>
                  <a:srgbClr val="000000"/>
                </a:solidFill>
                <a:latin typeface="Quicksand Bold"/>
                <a:ea typeface="Quicksand Bold"/>
                <a:cs typeface="Quicksand Bold"/>
                <a:sym typeface="Quicksand Bold"/>
              </a:rPr>
              <a:t>Array</a:t>
            </a:r>
          </a:p>
          <a:p>
            <a:pPr algn="l">
              <a:lnSpc>
                <a:spcPts val="5040"/>
              </a:lnSpc>
            </a:pPr>
            <a:r>
              <a:rPr lang="en-US" b="true" sz="2800">
                <a:solidFill>
                  <a:srgbClr val="000000"/>
                </a:solidFill>
                <a:latin typeface="Quicksand Bold"/>
                <a:ea typeface="Quicksand Bold"/>
                <a:cs typeface="Quicksand Bold"/>
                <a:sym typeface="Quicksand Bold"/>
              </a:rPr>
              <a:t>Digunakan untuk menyimpan kumpulan data pasien, dokter, antrean pelayanan, dan riwayat pemeriksaan.</a:t>
            </a:r>
          </a:p>
          <a:p>
            <a:pPr algn="l" marL="604604" indent="-302302" lvl="1">
              <a:lnSpc>
                <a:spcPts val="5040"/>
              </a:lnSpc>
              <a:buFont typeface="Arial"/>
              <a:buChar char="•"/>
            </a:pPr>
            <a:r>
              <a:rPr lang="en-US" b="true" sz="2800">
                <a:solidFill>
                  <a:srgbClr val="000000"/>
                </a:solidFill>
                <a:latin typeface="Quicksand Bold"/>
                <a:ea typeface="Quicksand Bold"/>
                <a:cs typeface="Quicksand Bold"/>
                <a:sym typeface="Quicksand Bold"/>
              </a:rPr>
              <a:t>Sequential Search</a:t>
            </a:r>
          </a:p>
          <a:p>
            <a:pPr algn="l">
              <a:lnSpc>
                <a:spcPts val="5040"/>
              </a:lnSpc>
            </a:pPr>
            <a:r>
              <a:rPr lang="en-US" b="true" sz="2800">
                <a:solidFill>
                  <a:srgbClr val="000000"/>
                </a:solidFill>
                <a:latin typeface="Quicksand Bold"/>
                <a:ea typeface="Quicksand Bold"/>
                <a:cs typeface="Quicksand Bold"/>
                <a:sym typeface="Quicksand Bold"/>
              </a:rPr>
              <a:t>Digunakan untuk mencari data pasien berdasarkan ID pasien menggunakan metode Sequential Search.</a:t>
            </a:r>
          </a:p>
          <a:p>
            <a:pPr algn="l">
              <a:lnSpc>
                <a:spcPts val="5040"/>
              </a:lnSpc>
            </a:pPr>
          </a:p>
          <a:p>
            <a:pPr algn="l">
              <a:lnSpc>
                <a:spcPts val="5040"/>
              </a:lnSpc>
            </a:pPr>
          </a:p>
          <a:p>
            <a:pPr algn="ctr">
              <a:lnSpc>
                <a:spcPts val="504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937435" y="2015588"/>
            <a:ext cx="11305549" cy="6107299"/>
          </a:xfrm>
          <a:custGeom>
            <a:avLst/>
            <a:gdLst/>
            <a:ahLst/>
            <a:cxnLst/>
            <a:rect r="r" b="b" t="t" l="l"/>
            <a:pathLst>
              <a:path h="6107299" w="11305549">
                <a:moveTo>
                  <a:pt x="0" y="0"/>
                </a:moveTo>
                <a:lnTo>
                  <a:pt x="11305549" y="0"/>
                </a:lnTo>
                <a:lnTo>
                  <a:pt x="11305549" y="6107299"/>
                </a:lnTo>
                <a:lnTo>
                  <a:pt x="0" y="6107299"/>
                </a:lnTo>
                <a:lnTo>
                  <a:pt x="0" y="0"/>
                </a:lnTo>
                <a:close/>
              </a:path>
            </a:pathLst>
          </a:custGeom>
          <a:blipFill>
            <a:blip r:embed="rId4">
              <a:extLst>
                <a:ext uri="{96DAC541-7B7A-43D3-8B79-37D633B846F1}">
                  <asvg:svgBlip xmlns:asvg="http://schemas.microsoft.com/office/drawing/2016/SVG/main" r:embed="rId5"/>
                </a:ext>
              </a:extLst>
            </a:blip>
            <a:stretch>
              <a:fillRect l="-19959" t="0" r="0" b="-63216"/>
            </a:stretch>
          </a:blipFill>
          <a:ln cap="sq">
            <a:noFill/>
            <a:prstDash val="solid"/>
            <a:miter/>
          </a:ln>
        </p:spPr>
      </p:sp>
      <p:sp>
        <p:nvSpPr>
          <p:cNvPr name="Freeform 5" id="5"/>
          <p:cNvSpPr/>
          <p:nvPr/>
        </p:nvSpPr>
        <p:spPr>
          <a:xfrm flipH="false" flipV="false" rot="0">
            <a:off x="0" y="2015588"/>
            <a:ext cx="11305549" cy="6107299"/>
          </a:xfrm>
          <a:custGeom>
            <a:avLst/>
            <a:gdLst/>
            <a:ahLst/>
            <a:cxnLst/>
            <a:rect r="r" b="b" t="t" l="l"/>
            <a:pathLst>
              <a:path h="6107299" w="11305549">
                <a:moveTo>
                  <a:pt x="0" y="0"/>
                </a:moveTo>
                <a:lnTo>
                  <a:pt x="11305549" y="0"/>
                </a:lnTo>
                <a:lnTo>
                  <a:pt x="11305549" y="6107299"/>
                </a:lnTo>
                <a:lnTo>
                  <a:pt x="0" y="6107299"/>
                </a:lnTo>
                <a:lnTo>
                  <a:pt x="0" y="0"/>
                </a:lnTo>
                <a:close/>
              </a:path>
            </a:pathLst>
          </a:custGeom>
          <a:blipFill>
            <a:blip r:embed="rId4">
              <a:extLst>
                <a:ext uri="{96DAC541-7B7A-43D3-8B79-37D633B846F1}">
                  <asvg:svgBlip xmlns:asvg="http://schemas.microsoft.com/office/drawing/2016/SVG/main" r:embed="rId5"/>
                </a:ext>
              </a:extLst>
            </a:blip>
            <a:stretch>
              <a:fillRect l="0" t="0" r="-19959" b="-63216"/>
            </a:stretch>
          </a:blipFill>
          <a:ln cap="sq">
            <a:noFill/>
            <a:prstDash val="solid"/>
            <a:miter/>
          </a:ln>
        </p:spPr>
      </p:sp>
      <p:sp>
        <p:nvSpPr>
          <p:cNvPr name="Freeform 6" id="6"/>
          <p:cNvSpPr/>
          <p:nvPr/>
        </p:nvSpPr>
        <p:spPr>
          <a:xfrm flipH="false" flipV="false" rot="0">
            <a:off x="0" y="6887905"/>
            <a:ext cx="11305549" cy="3036955"/>
          </a:xfrm>
          <a:custGeom>
            <a:avLst/>
            <a:gdLst/>
            <a:ahLst/>
            <a:cxnLst/>
            <a:rect r="r" b="b" t="t" l="l"/>
            <a:pathLst>
              <a:path h="3036955" w="11305549">
                <a:moveTo>
                  <a:pt x="0" y="0"/>
                </a:moveTo>
                <a:lnTo>
                  <a:pt x="11305549" y="0"/>
                </a:lnTo>
                <a:lnTo>
                  <a:pt x="11305549" y="3036955"/>
                </a:lnTo>
                <a:lnTo>
                  <a:pt x="0" y="3036955"/>
                </a:lnTo>
                <a:lnTo>
                  <a:pt x="0" y="0"/>
                </a:lnTo>
                <a:close/>
              </a:path>
            </a:pathLst>
          </a:custGeom>
          <a:blipFill>
            <a:blip r:embed="rId4">
              <a:extLst>
                <a:ext uri="{96DAC541-7B7A-43D3-8B79-37D633B846F1}">
                  <asvg:svgBlip xmlns:asvg="http://schemas.microsoft.com/office/drawing/2016/SVG/main" r:embed="rId5"/>
                </a:ext>
              </a:extLst>
            </a:blip>
            <a:stretch>
              <a:fillRect l="0" t="-228227" r="-19959" b="0"/>
            </a:stretch>
          </a:blipFill>
          <a:ln cap="sq">
            <a:noFill/>
            <a:prstDash val="solid"/>
            <a:miter/>
          </a:ln>
        </p:spPr>
      </p:sp>
      <p:sp>
        <p:nvSpPr>
          <p:cNvPr name="Freeform 7" id="7"/>
          <p:cNvSpPr/>
          <p:nvPr/>
        </p:nvSpPr>
        <p:spPr>
          <a:xfrm flipH="false" flipV="false" rot="0">
            <a:off x="7102541" y="6932257"/>
            <a:ext cx="11140442" cy="2992603"/>
          </a:xfrm>
          <a:custGeom>
            <a:avLst/>
            <a:gdLst/>
            <a:ahLst/>
            <a:cxnLst/>
            <a:rect r="r" b="b" t="t" l="l"/>
            <a:pathLst>
              <a:path h="2992603" w="11140442">
                <a:moveTo>
                  <a:pt x="0" y="0"/>
                </a:moveTo>
                <a:lnTo>
                  <a:pt x="11140443" y="0"/>
                </a:lnTo>
                <a:lnTo>
                  <a:pt x="11140443" y="2992603"/>
                </a:lnTo>
                <a:lnTo>
                  <a:pt x="0" y="2992603"/>
                </a:lnTo>
                <a:lnTo>
                  <a:pt x="0" y="0"/>
                </a:lnTo>
                <a:close/>
              </a:path>
            </a:pathLst>
          </a:custGeom>
          <a:blipFill>
            <a:blip r:embed="rId4">
              <a:extLst>
                <a:ext uri="{96DAC541-7B7A-43D3-8B79-37D633B846F1}">
                  <asvg:svgBlip xmlns:asvg="http://schemas.microsoft.com/office/drawing/2016/SVG/main" r:embed="rId5"/>
                </a:ext>
              </a:extLst>
            </a:blip>
            <a:stretch>
              <a:fillRect l="-19959" t="-228227" r="0" b="0"/>
            </a:stretch>
          </a:blipFill>
          <a:ln cap="sq">
            <a:noFill/>
            <a:prstDash val="solid"/>
            <a:miter/>
          </a:ln>
        </p:spPr>
      </p:sp>
      <p:sp>
        <p:nvSpPr>
          <p:cNvPr name="TextBox 8" id="8"/>
          <p:cNvSpPr txBox="true"/>
          <p:nvPr/>
        </p:nvSpPr>
        <p:spPr>
          <a:xfrm rot="0">
            <a:off x="779937" y="4349481"/>
            <a:ext cx="17463046" cy="6124546"/>
          </a:xfrm>
          <a:prstGeom prst="rect">
            <a:avLst/>
          </a:prstGeom>
        </p:spPr>
        <p:txBody>
          <a:bodyPr anchor="t" rtlCol="false" tIns="0" lIns="0" bIns="0" rIns="0">
            <a:spAutoFit/>
          </a:bodyPr>
          <a:lstStyle/>
          <a:p>
            <a:pPr algn="l" marL="647783" indent="-323891" lvl="1">
              <a:lnSpc>
                <a:spcPts val="5400"/>
              </a:lnSpc>
              <a:buFont typeface="Arial"/>
              <a:buChar char="•"/>
            </a:pPr>
            <a:r>
              <a:rPr lang="en-US" b="true" sz="3000">
                <a:solidFill>
                  <a:srgbClr val="000000"/>
                </a:solidFill>
                <a:latin typeface="Quicksand Bold"/>
                <a:ea typeface="Quicksand Bold"/>
                <a:cs typeface="Quicksand Bold"/>
                <a:sym typeface="Quicksand Bold"/>
              </a:rPr>
              <a:t>Bubble Sort</a:t>
            </a:r>
          </a:p>
          <a:p>
            <a:pPr algn="l">
              <a:lnSpc>
                <a:spcPts val="5400"/>
              </a:lnSpc>
            </a:pPr>
            <a:r>
              <a:rPr lang="en-US" sz="3000" b="true">
                <a:solidFill>
                  <a:srgbClr val="000000"/>
                </a:solidFill>
                <a:latin typeface="Quicksand Bold"/>
                <a:ea typeface="Quicksand Bold"/>
                <a:cs typeface="Quicksand Bold"/>
                <a:sym typeface="Quicksand Bold"/>
              </a:rPr>
              <a:t>Digu</a:t>
            </a:r>
            <a:r>
              <a:rPr lang="en-US" b="true" sz="3000">
                <a:solidFill>
                  <a:srgbClr val="000000"/>
                </a:solidFill>
                <a:latin typeface="Quicksand Bold"/>
                <a:ea typeface="Quicksand Bold"/>
                <a:cs typeface="Quicksand Bold"/>
                <a:sym typeface="Quicksand Bold"/>
              </a:rPr>
              <a:t>nakan untuk mengurutkan jadwal dokter berdasarkan nama menggunakan metode Bubble Sort.</a:t>
            </a:r>
          </a:p>
          <a:p>
            <a:pPr algn="l" marL="647783" indent="-323891" lvl="1">
              <a:lnSpc>
                <a:spcPts val="5400"/>
              </a:lnSpc>
              <a:buFont typeface="Arial"/>
              <a:buChar char="•"/>
            </a:pPr>
            <a:r>
              <a:rPr lang="en-US" b="true" sz="3000">
                <a:solidFill>
                  <a:srgbClr val="000000"/>
                </a:solidFill>
                <a:latin typeface="Quicksand Bold"/>
                <a:ea typeface="Quicksand Bold"/>
                <a:cs typeface="Quicksand Bold"/>
                <a:sym typeface="Quicksand Bold"/>
              </a:rPr>
              <a:t>Queue</a:t>
            </a:r>
          </a:p>
          <a:p>
            <a:pPr algn="l">
              <a:lnSpc>
                <a:spcPts val="5400"/>
              </a:lnSpc>
            </a:pPr>
            <a:r>
              <a:rPr lang="en-US" b="true" sz="3000">
                <a:solidFill>
                  <a:srgbClr val="000000"/>
                </a:solidFill>
                <a:latin typeface="Quicksand Bold"/>
                <a:ea typeface="Quicksand Bold"/>
                <a:cs typeface="Quicksand Bold"/>
                <a:sym typeface="Quicksand Bold"/>
              </a:rPr>
              <a:t>Digunakan pada pengelolaan antrean pelayanan pasien berdasarkan urutan kedatangan (FIFO).</a:t>
            </a:r>
          </a:p>
          <a:p>
            <a:pPr algn="l">
              <a:lnSpc>
                <a:spcPts val="5400"/>
              </a:lnSpc>
            </a:pPr>
          </a:p>
          <a:p>
            <a:pPr algn="l">
              <a:lnSpc>
                <a:spcPts val="5400"/>
              </a:lnSpc>
            </a:pPr>
          </a:p>
          <a:p>
            <a:pPr algn="ctr">
              <a:lnSpc>
                <a:spcPts val="5400"/>
              </a:lnSpc>
            </a:pPr>
          </a:p>
        </p:txBody>
      </p:sp>
      <p:sp>
        <p:nvSpPr>
          <p:cNvPr name="TextBox 9" id="9"/>
          <p:cNvSpPr txBox="true"/>
          <p:nvPr/>
        </p:nvSpPr>
        <p:spPr>
          <a:xfrm rot="0">
            <a:off x="1890434" y="-171450"/>
            <a:ext cx="14507132" cy="2319425"/>
          </a:xfrm>
          <a:prstGeom prst="rect">
            <a:avLst/>
          </a:prstGeom>
        </p:spPr>
        <p:txBody>
          <a:bodyPr anchor="t" rtlCol="false" tIns="0" lIns="0" bIns="0" rIns="0">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STRUKTUR DATA YANG DI GUNAKAN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355128" y="627537"/>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395552" y="2079059"/>
            <a:ext cx="11188055" cy="6043828"/>
          </a:xfrm>
          <a:custGeom>
            <a:avLst/>
            <a:gdLst/>
            <a:ahLst/>
            <a:cxnLst/>
            <a:rect r="r" b="b" t="t" l="l"/>
            <a:pathLst>
              <a:path h="6043828" w="11188055">
                <a:moveTo>
                  <a:pt x="0" y="0"/>
                </a:moveTo>
                <a:lnTo>
                  <a:pt x="11188055" y="0"/>
                </a:lnTo>
                <a:lnTo>
                  <a:pt x="11188055" y="6043828"/>
                </a:lnTo>
                <a:lnTo>
                  <a:pt x="0" y="6043828"/>
                </a:lnTo>
                <a:lnTo>
                  <a:pt x="0" y="0"/>
                </a:lnTo>
                <a:close/>
              </a:path>
            </a:pathLst>
          </a:custGeom>
          <a:blipFill>
            <a:blip r:embed="rId4">
              <a:extLst>
                <a:ext uri="{96DAC541-7B7A-43D3-8B79-37D633B846F1}">
                  <asvg:svgBlip xmlns:asvg="http://schemas.microsoft.com/office/drawing/2016/SVG/main" r:embed="rId5"/>
                </a:ext>
              </a:extLst>
            </a:blip>
            <a:stretch>
              <a:fillRect l="-19959" t="0" r="0" b="-63216"/>
            </a:stretch>
          </a:blipFill>
          <a:ln cap="sq">
            <a:noFill/>
            <a:prstDash val="solid"/>
            <a:miter/>
          </a:ln>
        </p:spPr>
      </p:sp>
      <p:sp>
        <p:nvSpPr>
          <p:cNvPr name="Freeform 5" id="5"/>
          <p:cNvSpPr/>
          <p:nvPr/>
        </p:nvSpPr>
        <p:spPr>
          <a:xfrm flipH="false" flipV="false" rot="0">
            <a:off x="-535980" y="2079059"/>
            <a:ext cx="11188055" cy="6043828"/>
          </a:xfrm>
          <a:custGeom>
            <a:avLst/>
            <a:gdLst/>
            <a:ahLst/>
            <a:cxnLst/>
            <a:rect r="r" b="b" t="t" l="l"/>
            <a:pathLst>
              <a:path h="6043828" w="11188055">
                <a:moveTo>
                  <a:pt x="0" y="0"/>
                </a:moveTo>
                <a:lnTo>
                  <a:pt x="11188055" y="0"/>
                </a:lnTo>
                <a:lnTo>
                  <a:pt x="11188055" y="6043828"/>
                </a:lnTo>
                <a:lnTo>
                  <a:pt x="0" y="6043828"/>
                </a:lnTo>
                <a:lnTo>
                  <a:pt x="0" y="0"/>
                </a:lnTo>
                <a:close/>
              </a:path>
            </a:pathLst>
          </a:custGeom>
          <a:blipFill>
            <a:blip r:embed="rId4">
              <a:extLst>
                <a:ext uri="{96DAC541-7B7A-43D3-8B79-37D633B846F1}">
                  <asvg:svgBlip xmlns:asvg="http://schemas.microsoft.com/office/drawing/2016/SVG/main" r:embed="rId5"/>
                </a:ext>
              </a:extLst>
            </a:blip>
            <a:stretch>
              <a:fillRect l="0" t="0" r="-19959" b="-63216"/>
            </a:stretch>
          </a:blipFill>
          <a:ln cap="sq">
            <a:noFill/>
            <a:prstDash val="solid"/>
            <a:miter/>
          </a:ln>
        </p:spPr>
      </p:sp>
      <p:sp>
        <p:nvSpPr>
          <p:cNvPr name="Freeform 6" id="6"/>
          <p:cNvSpPr/>
          <p:nvPr/>
        </p:nvSpPr>
        <p:spPr>
          <a:xfrm flipH="false" flipV="false" rot="0">
            <a:off x="-178805" y="6887905"/>
            <a:ext cx="10477941" cy="2814639"/>
          </a:xfrm>
          <a:custGeom>
            <a:avLst/>
            <a:gdLst/>
            <a:ahLst/>
            <a:cxnLst/>
            <a:rect r="r" b="b" t="t" l="l"/>
            <a:pathLst>
              <a:path h="2814639" w="10477941">
                <a:moveTo>
                  <a:pt x="0" y="0"/>
                </a:moveTo>
                <a:lnTo>
                  <a:pt x="10477941" y="0"/>
                </a:lnTo>
                <a:lnTo>
                  <a:pt x="10477941" y="2814638"/>
                </a:lnTo>
                <a:lnTo>
                  <a:pt x="0" y="2814638"/>
                </a:lnTo>
                <a:lnTo>
                  <a:pt x="0" y="0"/>
                </a:lnTo>
                <a:close/>
              </a:path>
            </a:pathLst>
          </a:custGeom>
          <a:blipFill>
            <a:blip r:embed="rId4">
              <a:extLst>
                <a:ext uri="{96DAC541-7B7A-43D3-8B79-37D633B846F1}">
                  <asvg:svgBlip xmlns:asvg="http://schemas.microsoft.com/office/drawing/2016/SVG/main" r:embed="rId5"/>
                </a:ext>
              </a:extLst>
            </a:blip>
            <a:stretch>
              <a:fillRect l="0" t="-228227" r="-19959" b="0"/>
            </a:stretch>
          </a:blipFill>
          <a:ln cap="sq">
            <a:noFill/>
            <a:prstDash val="solid"/>
            <a:miter/>
          </a:ln>
        </p:spPr>
      </p:sp>
      <p:sp>
        <p:nvSpPr>
          <p:cNvPr name="Freeform 7" id="7"/>
          <p:cNvSpPr/>
          <p:nvPr/>
        </p:nvSpPr>
        <p:spPr>
          <a:xfrm flipH="false" flipV="false" rot="0">
            <a:off x="8105666" y="6887905"/>
            <a:ext cx="10477941" cy="2814639"/>
          </a:xfrm>
          <a:custGeom>
            <a:avLst/>
            <a:gdLst/>
            <a:ahLst/>
            <a:cxnLst/>
            <a:rect r="r" b="b" t="t" l="l"/>
            <a:pathLst>
              <a:path h="2814639" w="10477941">
                <a:moveTo>
                  <a:pt x="0" y="0"/>
                </a:moveTo>
                <a:lnTo>
                  <a:pt x="10477941" y="0"/>
                </a:lnTo>
                <a:lnTo>
                  <a:pt x="10477941" y="2814638"/>
                </a:lnTo>
                <a:lnTo>
                  <a:pt x="0" y="2814638"/>
                </a:lnTo>
                <a:lnTo>
                  <a:pt x="0" y="0"/>
                </a:lnTo>
                <a:close/>
              </a:path>
            </a:pathLst>
          </a:custGeom>
          <a:blipFill>
            <a:blip r:embed="rId4">
              <a:extLst>
                <a:ext uri="{96DAC541-7B7A-43D3-8B79-37D633B846F1}">
                  <asvg:svgBlip xmlns:asvg="http://schemas.microsoft.com/office/drawing/2016/SVG/main" r:embed="rId5"/>
                </a:ext>
              </a:extLst>
            </a:blip>
            <a:stretch>
              <a:fillRect l="-19959" t="-228227" r="0" b="0"/>
            </a:stretch>
          </a:blipFill>
          <a:ln cap="sq">
            <a:noFill/>
            <a:prstDash val="solid"/>
            <a:miter/>
          </a:ln>
        </p:spPr>
      </p:sp>
      <p:sp>
        <p:nvSpPr>
          <p:cNvPr name="TextBox 8" id="8"/>
          <p:cNvSpPr txBox="true"/>
          <p:nvPr/>
        </p:nvSpPr>
        <p:spPr>
          <a:xfrm rot="0">
            <a:off x="2260815" y="-318570"/>
            <a:ext cx="14393456" cy="3327519"/>
          </a:xfrm>
          <a:prstGeom prst="rect">
            <a:avLst/>
          </a:prstGeom>
        </p:spPr>
        <p:txBody>
          <a:bodyPr anchor="t" rtlCol="false" tIns="0" lIns="0" bIns="0" rIns="0">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ALASAN PEMILIHAN STRUKTUR DATA</a:t>
            </a:r>
          </a:p>
        </p:txBody>
      </p:sp>
      <p:sp>
        <p:nvSpPr>
          <p:cNvPr name="TextBox 9" id="9"/>
          <p:cNvSpPr txBox="true"/>
          <p:nvPr/>
        </p:nvSpPr>
        <p:spPr>
          <a:xfrm rot="0">
            <a:off x="211053" y="4104162"/>
            <a:ext cx="17865893" cy="4752975"/>
          </a:xfrm>
          <a:prstGeom prst="rect">
            <a:avLst/>
          </a:prstGeom>
        </p:spPr>
        <p:txBody>
          <a:bodyPr anchor="t" rtlCol="false" tIns="0" lIns="0" bIns="0" rIns="0">
            <a:spAutoFit/>
          </a:bodyPr>
          <a:lstStyle/>
          <a:p>
            <a:pPr algn="l" marL="647700" indent="-323850" lvl="1">
              <a:lnSpc>
                <a:spcPts val="5400"/>
              </a:lnSpc>
              <a:buFont typeface="Arial"/>
              <a:buChar char="•"/>
            </a:pPr>
            <a:r>
              <a:rPr lang="en-US" b="true" sz="3000">
                <a:solidFill>
                  <a:srgbClr val="000000"/>
                </a:solidFill>
                <a:latin typeface="Quicksand Bold"/>
                <a:ea typeface="Quicksand Bold"/>
                <a:cs typeface="Quicksand Bold"/>
                <a:sym typeface="Quicksand Bold"/>
              </a:rPr>
              <a:t>Struct dipilih karena mampu mengelompokan atribut yang saling berkaitan seperti (id,nama keluhan)menjadi satu data.</a:t>
            </a:r>
          </a:p>
          <a:p>
            <a:pPr algn="l" marL="647700" indent="-323850" lvl="1">
              <a:lnSpc>
                <a:spcPts val="5400"/>
              </a:lnSpc>
              <a:buFont typeface="Arial"/>
              <a:buChar char="•"/>
            </a:pPr>
            <a:r>
              <a:rPr lang="en-US" b="true" sz="3000">
                <a:solidFill>
                  <a:srgbClr val="000000"/>
                </a:solidFill>
                <a:latin typeface="Quicksand Bold"/>
                <a:ea typeface="Quicksand Bold"/>
                <a:cs typeface="Quicksand Bold"/>
                <a:sym typeface="Quicksand Bold"/>
              </a:rPr>
              <a:t>Array dipilih sebagai media penyimpanan karena dapat menyimpan data dalam satu varibel.</a:t>
            </a:r>
          </a:p>
          <a:p>
            <a:pPr algn="l" marL="647700" indent="-323850" lvl="1">
              <a:lnSpc>
                <a:spcPts val="5400"/>
              </a:lnSpc>
              <a:buFont typeface="Arial"/>
              <a:buChar char="•"/>
            </a:pPr>
            <a:r>
              <a:rPr lang="en-US" b="true" sz="3000">
                <a:solidFill>
                  <a:srgbClr val="000000"/>
                </a:solidFill>
                <a:latin typeface="Quicksand Bold"/>
                <a:ea typeface="Quicksand Bold"/>
                <a:cs typeface="Quicksand Bold"/>
                <a:sym typeface="Quicksand Bold"/>
              </a:rPr>
              <a:t>Sequential Search dipilih karena mudah diimplementasikan dan cukup efektif.</a:t>
            </a:r>
          </a:p>
          <a:p>
            <a:pPr algn="l" marL="647700" indent="-323850" lvl="1">
              <a:lnSpc>
                <a:spcPts val="5400"/>
              </a:lnSpc>
              <a:buFont typeface="Arial"/>
              <a:buChar char="•"/>
            </a:pPr>
            <a:r>
              <a:rPr lang="en-US" b="true" sz="3000">
                <a:solidFill>
                  <a:srgbClr val="000000"/>
                </a:solidFill>
                <a:latin typeface="Quicksand Bold"/>
                <a:ea typeface="Quicksand Bold"/>
                <a:cs typeface="Quicksand Bold"/>
                <a:sym typeface="Quicksand Bold"/>
              </a:rPr>
              <a:t>Bubble Sort dipilih karena digunakan untuk mengurutkan jadwal dokter secara alfabet.</a:t>
            </a:r>
          </a:p>
          <a:p>
            <a:pPr algn="l" marL="647700" indent="-323850" lvl="1">
              <a:lnSpc>
                <a:spcPts val="5400"/>
              </a:lnSpc>
              <a:buFont typeface="Arial"/>
              <a:buChar char="•"/>
            </a:pPr>
            <a:r>
              <a:rPr lang="en-US" b="true" sz="3000">
                <a:solidFill>
                  <a:srgbClr val="000000"/>
                </a:solidFill>
                <a:latin typeface="Quicksand Bold"/>
                <a:ea typeface="Quicksand Bold"/>
                <a:cs typeface="Quicksand Bold"/>
                <a:sym typeface="Quicksand Bold"/>
              </a:rPr>
              <a:t>Queue dipilih karena prinsip nya sesuai dengan kondisi rumah sakit dimana yang datang lebih dahulu harus mendapatkan layanan terlebih dahulu.</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021705" y="1973696"/>
            <a:ext cx="11383097" cy="6149191"/>
          </a:xfrm>
          <a:custGeom>
            <a:avLst/>
            <a:gdLst/>
            <a:ahLst/>
            <a:cxnLst/>
            <a:rect r="r" b="b" t="t" l="l"/>
            <a:pathLst>
              <a:path h="6149191" w="11383097">
                <a:moveTo>
                  <a:pt x="0" y="0"/>
                </a:moveTo>
                <a:lnTo>
                  <a:pt x="11383097" y="0"/>
                </a:lnTo>
                <a:lnTo>
                  <a:pt x="11383097" y="6149191"/>
                </a:lnTo>
                <a:lnTo>
                  <a:pt x="0" y="6149191"/>
                </a:lnTo>
                <a:lnTo>
                  <a:pt x="0" y="0"/>
                </a:lnTo>
                <a:close/>
              </a:path>
            </a:pathLst>
          </a:custGeom>
          <a:blipFill>
            <a:blip r:embed="rId4">
              <a:extLst>
                <a:ext uri="{96DAC541-7B7A-43D3-8B79-37D633B846F1}">
                  <asvg:svgBlip xmlns:asvg="http://schemas.microsoft.com/office/drawing/2016/SVG/main" r:embed="rId5"/>
                </a:ext>
              </a:extLst>
            </a:blip>
            <a:stretch>
              <a:fillRect l="-19959" t="0" r="0" b="-63216"/>
            </a:stretch>
          </a:blipFill>
          <a:ln cap="sq">
            <a:noFill/>
            <a:prstDash val="solid"/>
            <a:miter/>
          </a:ln>
        </p:spPr>
      </p:sp>
      <p:sp>
        <p:nvSpPr>
          <p:cNvPr name="Freeform 5" id="5"/>
          <p:cNvSpPr/>
          <p:nvPr/>
        </p:nvSpPr>
        <p:spPr>
          <a:xfrm flipH="false" flipV="false" rot="0">
            <a:off x="0" y="1973696"/>
            <a:ext cx="11383097" cy="6149191"/>
          </a:xfrm>
          <a:custGeom>
            <a:avLst/>
            <a:gdLst/>
            <a:ahLst/>
            <a:cxnLst/>
            <a:rect r="r" b="b" t="t" l="l"/>
            <a:pathLst>
              <a:path h="6149191" w="11383097">
                <a:moveTo>
                  <a:pt x="0" y="0"/>
                </a:moveTo>
                <a:lnTo>
                  <a:pt x="11383097" y="0"/>
                </a:lnTo>
                <a:lnTo>
                  <a:pt x="11383097" y="6149191"/>
                </a:lnTo>
                <a:lnTo>
                  <a:pt x="0" y="6149191"/>
                </a:lnTo>
                <a:lnTo>
                  <a:pt x="0" y="0"/>
                </a:lnTo>
                <a:close/>
              </a:path>
            </a:pathLst>
          </a:custGeom>
          <a:blipFill>
            <a:blip r:embed="rId4">
              <a:extLst>
                <a:ext uri="{96DAC541-7B7A-43D3-8B79-37D633B846F1}">
                  <asvg:svgBlip xmlns:asvg="http://schemas.microsoft.com/office/drawing/2016/SVG/main" r:embed="rId5"/>
                </a:ext>
              </a:extLst>
            </a:blip>
            <a:stretch>
              <a:fillRect l="0" t="0" r="-19959" b="-63216"/>
            </a:stretch>
          </a:blipFill>
          <a:ln cap="sq">
            <a:noFill/>
            <a:prstDash val="solid"/>
            <a:miter/>
          </a:ln>
        </p:spPr>
      </p:sp>
      <p:sp>
        <p:nvSpPr>
          <p:cNvPr name="Freeform 6" id="6"/>
          <p:cNvSpPr/>
          <p:nvPr/>
        </p:nvSpPr>
        <p:spPr>
          <a:xfrm flipH="false" flipV="false" rot="0">
            <a:off x="0" y="6887905"/>
            <a:ext cx="10864937" cy="2918596"/>
          </a:xfrm>
          <a:custGeom>
            <a:avLst/>
            <a:gdLst/>
            <a:ahLst/>
            <a:cxnLst/>
            <a:rect r="r" b="b" t="t" l="l"/>
            <a:pathLst>
              <a:path h="2918596" w="10864937">
                <a:moveTo>
                  <a:pt x="0" y="0"/>
                </a:moveTo>
                <a:lnTo>
                  <a:pt x="10864937" y="0"/>
                </a:lnTo>
                <a:lnTo>
                  <a:pt x="10864937" y="2918595"/>
                </a:lnTo>
                <a:lnTo>
                  <a:pt x="0" y="2918595"/>
                </a:lnTo>
                <a:lnTo>
                  <a:pt x="0" y="0"/>
                </a:lnTo>
                <a:close/>
              </a:path>
            </a:pathLst>
          </a:custGeom>
          <a:blipFill>
            <a:blip r:embed="rId4">
              <a:extLst>
                <a:ext uri="{96DAC541-7B7A-43D3-8B79-37D633B846F1}">
                  <asvg:svgBlip xmlns:asvg="http://schemas.microsoft.com/office/drawing/2016/SVG/main" r:embed="rId5"/>
                </a:ext>
              </a:extLst>
            </a:blip>
            <a:stretch>
              <a:fillRect l="0" t="-228227" r="-19959" b="0"/>
            </a:stretch>
          </a:blipFill>
          <a:ln cap="sq">
            <a:noFill/>
            <a:prstDash val="solid"/>
            <a:miter/>
          </a:ln>
        </p:spPr>
      </p:sp>
      <p:sp>
        <p:nvSpPr>
          <p:cNvPr name="Freeform 7" id="7"/>
          <p:cNvSpPr/>
          <p:nvPr/>
        </p:nvSpPr>
        <p:spPr>
          <a:xfrm flipH="false" flipV="false" rot="0">
            <a:off x="7539865" y="6887905"/>
            <a:ext cx="10864937" cy="2918596"/>
          </a:xfrm>
          <a:custGeom>
            <a:avLst/>
            <a:gdLst/>
            <a:ahLst/>
            <a:cxnLst/>
            <a:rect r="r" b="b" t="t" l="l"/>
            <a:pathLst>
              <a:path h="2918596" w="10864937">
                <a:moveTo>
                  <a:pt x="0" y="0"/>
                </a:moveTo>
                <a:lnTo>
                  <a:pt x="10864937" y="0"/>
                </a:lnTo>
                <a:lnTo>
                  <a:pt x="10864937" y="2918595"/>
                </a:lnTo>
                <a:lnTo>
                  <a:pt x="0" y="2918595"/>
                </a:lnTo>
                <a:lnTo>
                  <a:pt x="0" y="0"/>
                </a:lnTo>
                <a:close/>
              </a:path>
            </a:pathLst>
          </a:custGeom>
          <a:blipFill>
            <a:blip r:embed="rId4">
              <a:extLst>
                <a:ext uri="{96DAC541-7B7A-43D3-8B79-37D633B846F1}">
                  <asvg:svgBlip xmlns:asvg="http://schemas.microsoft.com/office/drawing/2016/SVG/main" r:embed="rId5"/>
                </a:ext>
              </a:extLst>
            </a:blip>
            <a:stretch>
              <a:fillRect l="-19959" t="-228227" r="0" b="0"/>
            </a:stretch>
          </a:blipFill>
          <a:ln cap="sq">
            <a:noFill/>
            <a:prstDash val="solid"/>
            <a:miter/>
          </a:ln>
        </p:spPr>
      </p:sp>
      <p:sp>
        <p:nvSpPr>
          <p:cNvPr name="Freeform 8" id="8"/>
          <p:cNvSpPr/>
          <p:nvPr/>
        </p:nvSpPr>
        <p:spPr>
          <a:xfrm flipH="false" flipV="false" rot="0">
            <a:off x="1428419" y="4427904"/>
            <a:ext cx="15431162" cy="4362689"/>
          </a:xfrm>
          <a:custGeom>
            <a:avLst/>
            <a:gdLst/>
            <a:ahLst/>
            <a:cxnLst/>
            <a:rect r="r" b="b" t="t" l="l"/>
            <a:pathLst>
              <a:path h="4362689" w="15431162">
                <a:moveTo>
                  <a:pt x="0" y="0"/>
                </a:moveTo>
                <a:lnTo>
                  <a:pt x="15431162" y="0"/>
                </a:lnTo>
                <a:lnTo>
                  <a:pt x="15431162" y="4362689"/>
                </a:lnTo>
                <a:lnTo>
                  <a:pt x="0" y="4362689"/>
                </a:lnTo>
                <a:lnTo>
                  <a:pt x="0" y="0"/>
                </a:lnTo>
                <a:close/>
              </a:path>
            </a:pathLst>
          </a:custGeom>
          <a:blipFill>
            <a:blip r:embed="rId6"/>
            <a:stretch>
              <a:fillRect l="-12756" t="0" r="-12756" b="0"/>
            </a:stretch>
          </a:blipFill>
        </p:spPr>
      </p:sp>
      <p:sp>
        <p:nvSpPr>
          <p:cNvPr name="TextBox 9" id="9"/>
          <p:cNvSpPr txBox="true"/>
          <p:nvPr/>
        </p:nvSpPr>
        <p:spPr>
          <a:xfrm rot="0">
            <a:off x="3364386" y="-87746"/>
            <a:ext cx="11981504" cy="2061443"/>
          </a:xfrm>
          <a:prstGeom prst="rect">
            <a:avLst/>
          </a:prstGeom>
        </p:spPr>
        <p:txBody>
          <a:bodyPr anchor="t" rtlCol="false" tIns="0" lIns="0" bIns="0" rIns="0">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PEMBAGIAN TUGAS KELOMPOK</a:t>
            </a:r>
          </a:p>
        </p:txBody>
      </p:sp>
      <p:sp>
        <p:nvSpPr>
          <p:cNvPr name="Freeform 10" id="10"/>
          <p:cNvSpPr/>
          <p:nvPr/>
        </p:nvSpPr>
        <p:spPr>
          <a:xfrm flipH="false" flipV="false" rot="410595">
            <a:off x="-1422049" y="122253"/>
            <a:ext cx="4668178" cy="2264066"/>
          </a:xfrm>
          <a:custGeom>
            <a:avLst/>
            <a:gdLst/>
            <a:ahLst/>
            <a:cxnLst/>
            <a:rect r="r" b="b" t="t" l="l"/>
            <a:pathLst>
              <a:path h="2264066" w="4668178">
                <a:moveTo>
                  <a:pt x="0" y="0"/>
                </a:moveTo>
                <a:lnTo>
                  <a:pt x="4668178" y="0"/>
                </a:lnTo>
                <a:lnTo>
                  <a:pt x="4668178" y="2264067"/>
                </a:lnTo>
                <a:lnTo>
                  <a:pt x="0" y="22640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true" flipV="false" rot="0">
            <a:off x="14303957" y="-506732"/>
            <a:ext cx="4528929" cy="3877895"/>
          </a:xfrm>
          <a:custGeom>
            <a:avLst/>
            <a:gdLst/>
            <a:ahLst/>
            <a:cxnLst/>
            <a:rect r="r" b="b" t="t" l="l"/>
            <a:pathLst>
              <a:path h="3877895" w="4528929">
                <a:moveTo>
                  <a:pt x="4528929" y="0"/>
                </a:moveTo>
                <a:lnTo>
                  <a:pt x="0" y="0"/>
                </a:lnTo>
                <a:lnTo>
                  <a:pt x="0" y="3877896"/>
                </a:lnTo>
                <a:lnTo>
                  <a:pt x="4528929" y="3877896"/>
                </a:lnTo>
                <a:lnTo>
                  <a:pt x="4528929"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608649" y="1709568"/>
            <a:ext cx="11872038" cy="6413319"/>
          </a:xfrm>
          <a:custGeom>
            <a:avLst/>
            <a:gdLst/>
            <a:ahLst/>
            <a:cxnLst/>
            <a:rect r="r" b="b" t="t" l="l"/>
            <a:pathLst>
              <a:path h="6413319" w="11872038">
                <a:moveTo>
                  <a:pt x="0" y="0"/>
                </a:moveTo>
                <a:lnTo>
                  <a:pt x="11872038" y="0"/>
                </a:lnTo>
                <a:lnTo>
                  <a:pt x="11872038" y="6413319"/>
                </a:lnTo>
                <a:lnTo>
                  <a:pt x="0" y="6413319"/>
                </a:lnTo>
                <a:lnTo>
                  <a:pt x="0" y="0"/>
                </a:lnTo>
                <a:close/>
              </a:path>
            </a:pathLst>
          </a:custGeom>
          <a:blipFill>
            <a:blip r:embed="rId4">
              <a:extLst>
                <a:ext uri="{96DAC541-7B7A-43D3-8B79-37D633B846F1}">
                  <asvg:svgBlip xmlns:asvg="http://schemas.microsoft.com/office/drawing/2016/SVG/main" r:embed="rId5"/>
                </a:ext>
              </a:extLst>
            </a:blip>
            <a:stretch>
              <a:fillRect l="-19959" t="0" r="0" b="-63216"/>
            </a:stretch>
          </a:blipFill>
          <a:ln cap="sq">
            <a:noFill/>
            <a:prstDash val="solid"/>
            <a:miter/>
          </a:ln>
        </p:spPr>
      </p:sp>
      <p:sp>
        <p:nvSpPr>
          <p:cNvPr name="Freeform 5" id="5"/>
          <p:cNvSpPr/>
          <p:nvPr/>
        </p:nvSpPr>
        <p:spPr>
          <a:xfrm flipH="false" flipV="false" rot="0">
            <a:off x="0" y="1709568"/>
            <a:ext cx="11872038" cy="6413319"/>
          </a:xfrm>
          <a:custGeom>
            <a:avLst/>
            <a:gdLst/>
            <a:ahLst/>
            <a:cxnLst/>
            <a:rect r="r" b="b" t="t" l="l"/>
            <a:pathLst>
              <a:path h="6413319" w="11872038">
                <a:moveTo>
                  <a:pt x="0" y="0"/>
                </a:moveTo>
                <a:lnTo>
                  <a:pt x="11872038" y="0"/>
                </a:lnTo>
                <a:lnTo>
                  <a:pt x="11872038" y="6413319"/>
                </a:lnTo>
                <a:lnTo>
                  <a:pt x="0" y="6413319"/>
                </a:lnTo>
                <a:lnTo>
                  <a:pt x="0" y="0"/>
                </a:lnTo>
                <a:close/>
              </a:path>
            </a:pathLst>
          </a:custGeom>
          <a:blipFill>
            <a:blip r:embed="rId4">
              <a:extLst>
                <a:ext uri="{96DAC541-7B7A-43D3-8B79-37D633B846F1}">
                  <asvg:svgBlip xmlns:asvg="http://schemas.microsoft.com/office/drawing/2016/SVG/main" r:embed="rId5"/>
                </a:ext>
              </a:extLst>
            </a:blip>
            <a:stretch>
              <a:fillRect l="0" t="0" r="-19959" b="-63216"/>
            </a:stretch>
          </a:blipFill>
          <a:ln cap="sq">
            <a:noFill/>
            <a:prstDash val="solid"/>
            <a:miter/>
          </a:ln>
        </p:spPr>
      </p:sp>
      <p:sp>
        <p:nvSpPr>
          <p:cNvPr name="Freeform 6" id="6"/>
          <p:cNvSpPr/>
          <p:nvPr/>
        </p:nvSpPr>
        <p:spPr>
          <a:xfrm flipH="false" flipV="false" rot="0">
            <a:off x="0" y="6887905"/>
            <a:ext cx="10741980" cy="2885566"/>
          </a:xfrm>
          <a:custGeom>
            <a:avLst/>
            <a:gdLst/>
            <a:ahLst/>
            <a:cxnLst/>
            <a:rect r="r" b="b" t="t" l="l"/>
            <a:pathLst>
              <a:path h="2885566" w="10741980">
                <a:moveTo>
                  <a:pt x="0" y="0"/>
                </a:moveTo>
                <a:lnTo>
                  <a:pt x="10741980" y="0"/>
                </a:lnTo>
                <a:lnTo>
                  <a:pt x="10741980" y="2885566"/>
                </a:lnTo>
                <a:lnTo>
                  <a:pt x="0" y="2885566"/>
                </a:lnTo>
                <a:lnTo>
                  <a:pt x="0" y="0"/>
                </a:lnTo>
                <a:close/>
              </a:path>
            </a:pathLst>
          </a:custGeom>
          <a:blipFill>
            <a:blip r:embed="rId4">
              <a:extLst>
                <a:ext uri="{96DAC541-7B7A-43D3-8B79-37D633B846F1}">
                  <asvg:svgBlip xmlns:asvg="http://schemas.microsoft.com/office/drawing/2016/SVG/main" r:embed="rId5"/>
                </a:ext>
              </a:extLst>
            </a:blip>
            <a:stretch>
              <a:fillRect l="0" t="-228227" r="-19959" b="0"/>
            </a:stretch>
          </a:blipFill>
          <a:ln cap="sq">
            <a:noFill/>
            <a:prstDash val="solid"/>
            <a:miter/>
          </a:ln>
        </p:spPr>
      </p:sp>
      <p:sp>
        <p:nvSpPr>
          <p:cNvPr name="Freeform 7" id="7"/>
          <p:cNvSpPr/>
          <p:nvPr/>
        </p:nvSpPr>
        <p:spPr>
          <a:xfrm flipH="false" flipV="false" rot="0">
            <a:off x="8105666" y="6887905"/>
            <a:ext cx="10741980" cy="2885566"/>
          </a:xfrm>
          <a:custGeom>
            <a:avLst/>
            <a:gdLst/>
            <a:ahLst/>
            <a:cxnLst/>
            <a:rect r="r" b="b" t="t" l="l"/>
            <a:pathLst>
              <a:path h="2885566" w="10741980">
                <a:moveTo>
                  <a:pt x="0" y="0"/>
                </a:moveTo>
                <a:lnTo>
                  <a:pt x="10741980" y="0"/>
                </a:lnTo>
                <a:lnTo>
                  <a:pt x="10741980" y="2885566"/>
                </a:lnTo>
                <a:lnTo>
                  <a:pt x="0" y="2885566"/>
                </a:lnTo>
                <a:lnTo>
                  <a:pt x="0" y="0"/>
                </a:lnTo>
                <a:close/>
              </a:path>
            </a:pathLst>
          </a:custGeom>
          <a:blipFill>
            <a:blip r:embed="rId4">
              <a:extLst>
                <a:ext uri="{96DAC541-7B7A-43D3-8B79-37D633B846F1}">
                  <asvg:svgBlip xmlns:asvg="http://schemas.microsoft.com/office/drawing/2016/SVG/main" r:embed="rId5"/>
                </a:ext>
              </a:extLst>
            </a:blip>
            <a:stretch>
              <a:fillRect l="-19959" t="-228227" r="0" b="0"/>
            </a:stretch>
          </a:blipFill>
          <a:ln cap="sq">
            <a:noFill/>
            <a:prstDash val="solid"/>
            <a:miter/>
          </a:ln>
        </p:spPr>
      </p:sp>
      <p:sp>
        <p:nvSpPr>
          <p:cNvPr name="TextBox 8" id="8"/>
          <p:cNvSpPr txBox="true"/>
          <p:nvPr/>
        </p:nvSpPr>
        <p:spPr>
          <a:xfrm rot="0">
            <a:off x="6608649" y="342465"/>
            <a:ext cx="5990687" cy="2012367"/>
          </a:xfrm>
          <a:prstGeom prst="rect">
            <a:avLst/>
          </a:prstGeom>
        </p:spPr>
        <p:txBody>
          <a:bodyPr anchor="t" rtlCol="false" tIns="0" lIns="0" bIns="0" rIns="0">
            <a:spAutoFit/>
          </a:bodyPr>
          <a:lstStyle/>
          <a:p>
            <a:pPr algn="ctr">
              <a:lnSpc>
                <a:spcPts val="14279"/>
              </a:lnSpc>
              <a:spcBef>
                <a:spcPct val="0"/>
              </a:spcBef>
            </a:pPr>
            <a:r>
              <a:rPr lang="en-US" sz="10199">
                <a:solidFill>
                  <a:srgbClr val="5170FF"/>
                </a:solidFill>
                <a:latin typeface="เอฟซี โอนิกิริ"/>
                <a:ea typeface="เอฟซี โอนิกิริ"/>
                <a:cs typeface="เอฟซี โอนิกิริ"/>
                <a:sym typeface="เอฟซี โอนิกิริ"/>
              </a:rPr>
              <a:t>KESIMPULAN</a:t>
            </a:r>
          </a:p>
        </p:txBody>
      </p:sp>
      <p:sp>
        <p:nvSpPr>
          <p:cNvPr name="TextBox 9" id="9"/>
          <p:cNvSpPr txBox="true"/>
          <p:nvPr/>
        </p:nvSpPr>
        <p:spPr>
          <a:xfrm rot="0">
            <a:off x="1028700" y="4275634"/>
            <a:ext cx="16737332" cy="4348419"/>
          </a:xfrm>
          <a:prstGeom prst="rect">
            <a:avLst/>
          </a:prstGeom>
        </p:spPr>
        <p:txBody>
          <a:bodyPr anchor="t" rtlCol="false" tIns="0" lIns="0" bIns="0" rIns="0">
            <a:spAutoFit/>
          </a:bodyPr>
          <a:lstStyle/>
          <a:p>
            <a:pPr algn="ctr">
              <a:lnSpc>
                <a:spcPts val="4329"/>
              </a:lnSpc>
            </a:pPr>
            <a:r>
              <a:rPr lang="en-US" sz="2405" b="true">
                <a:solidFill>
                  <a:srgbClr val="000000"/>
                </a:solidFill>
                <a:latin typeface="Quicksand Bold"/>
                <a:ea typeface="Quicksand Bold"/>
                <a:cs typeface="Quicksand Bold"/>
                <a:sym typeface="Quicksand Bold"/>
              </a:rPr>
              <a:t>Sistem Rumah Sakit Digital telah berhasil dibuat menggunakan bahasa pemrograman C++, dengan berbagai fitur yang lengkap untuk mengurus data pasien, jadwal dokter, antrean pelayanan, proses rujukan, serta riwayat pemeriksaan pasien.</a:t>
            </a:r>
          </a:p>
          <a:p>
            <a:pPr algn="ctr">
              <a:lnSpc>
                <a:spcPts val="4329"/>
              </a:lnSpc>
            </a:pPr>
          </a:p>
          <a:p>
            <a:pPr algn="ctr">
              <a:lnSpc>
                <a:spcPts val="4329"/>
              </a:lnSpc>
            </a:pPr>
            <a:r>
              <a:rPr lang="en-US" b="true" sz="2405">
                <a:solidFill>
                  <a:srgbClr val="000000"/>
                </a:solidFill>
                <a:latin typeface="Quicksand Bold"/>
                <a:ea typeface="Quicksand Bold"/>
                <a:cs typeface="Quicksand Bold"/>
                <a:sym typeface="Quicksand Bold"/>
              </a:rPr>
              <a:t>Sistem dikembangkan dengan menggunakan konsep struktur data seperti Struct, Array, dan Queue serta algoritma Sequential Search dan Bubble Sort, sehingga membuat pengelolaan data menjadi lebih rapi dan efisien. Melalui proyek ini, para anggota kelompok mempelajari cara menerapkan algoritma dan struktur data dalam kasus studi yang nyata, sekaligus mengalami kerja sama dalam tim menggunakan platform GitHub.</a:t>
            </a:r>
          </a:p>
        </p:txBody>
      </p:sp>
      <p:sp>
        <p:nvSpPr>
          <p:cNvPr name="Freeform 10" id="10"/>
          <p:cNvSpPr/>
          <p:nvPr/>
        </p:nvSpPr>
        <p:spPr>
          <a:xfrm flipH="false" flipV="false" rot="-407473">
            <a:off x="14466980" y="220528"/>
            <a:ext cx="3878817" cy="2511534"/>
          </a:xfrm>
          <a:custGeom>
            <a:avLst/>
            <a:gdLst/>
            <a:ahLst/>
            <a:cxnLst/>
            <a:rect r="r" b="b" t="t" l="l"/>
            <a:pathLst>
              <a:path h="2511534" w="3878817">
                <a:moveTo>
                  <a:pt x="0" y="0"/>
                </a:moveTo>
                <a:lnTo>
                  <a:pt x="3878818" y="0"/>
                </a:lnTo>
                <a:lnTo>
                  <a:pt x="3878818" y="2511534"/>
                </a:lnTo>
                <a:lnTo>
                  <a:pt x="0" y="25115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2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07332" y="1028700"/>
            <a:ext cx="13773389" cy="8229600"/>
          </a:xfrm>
          <a:custGeom>
            <a:avLst/>
            <a:gdLst/>
            <a:ahLst/>
            <a:cxnLst/>
            <a:rect r="r" b="b" t="t" l="l"/>
            <a:pathLst>
              <a:path h="8229600" w="13773389">
                <a:moveTo>
                  <a:pt x="0" y="0"/>
                </a:moveTo>
                <a:lnTo>
                  <a:pt x="13773389" y="0"/>
                </a:lnTo>
                <a:lnTo>
                  <a:pt x="13773389"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66057" y="1028700"/>
            <a:ext cx="13773389" cy="8229600"/>
          </a:xfrm>
          <a:custGeom>
            <a:avLst/>
            <a:gdLst/>
            <a:ahLst/>
            <a:cxnLst/>
            <a:rect r="r" b="b" t="t" l="l"/>
            <a:pathLst>
              <a:path h="8229600" w="13773389">
                <a:moveTo>
                  <a:pt x="0" y="0"/>
                </a:moveTo>
                <a:lnTo>
                  <a:pt x="13773390" y="0"/>
                </a:lnTo>
                <a:lnTo>
                  <a:pt x="13773390"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4962" y="1253357"/>
            <a:ext cx="10585423" cy="7780286"/>
          </a:xfrm>
          <a:custGeom>
            <a:avLst/>
            <a:gdLst/>
            <a:ahLst/>
            <a:cxnLst/>
            <a:rect r="r" b="b" t="t" l="l"/>
            <a:pathLst>
              <a:path h="7780286" w="10585423">
                <a:moveTo>
                  <a:pt x="0" y="0"/>
                </a:moveTo>
                <a:lnTo>
                  <a:pt x="10585423" y="0"/>
                </a:lnTo>
                <a:lnTo>
                  <a:pt x="10585423" y="7780286"/>
                </a:lnTo>
                <a:lnTo>
                  <a:pt x="0" y="77802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05666" y="1253357"/>
            <a:ext cx="8824174" cy="7780286"/>
          </a:xfrm>
          <a:custGeom>
            <a:avLst/>
            <a:gdLst/>
            <a:ahLst/>
            <a:cxnLst/>
            <a:rect r="r" b="b" t="t" l="l"/>
            <a:pathLst>
              <a:path h="7780286" w="8824174">
                <a:moveTo>
                  <a:pt x="0" y="0"/>
                </a:moveTo>
                <a:lnTo>
                  <a:pt x="8824174" y="0"/>
                </a:lnTo>
                <a:lnTo>
                  <a:pt x="8824174" y="7780286"/>
                </a:lnTo>
                <a:lnTo>
                  <a:pt x="0" y="7780286"/>
                </a:lnTo>
                <a:lnTo>
                  <a:pt x="0" y="0"/>
                </a:lnTo>
                <a:close/>
              </a:path>
            </a:pathLst>
          </a:custGeom>
          <a:blipFill>
            <a:blip r:embed="rId4">
              <a:extLst>
                <a:ext uri="{96DAC541-7B7A-43D3-8B79-37D633B846F1}">
                  <asvg:svgBlip xmlns:asvg="http://schemas.microsoft.com/office/drawing/2016/SVG/main" r:embed="rId5"/>
                </a:ext>
              </a:extLst>
            </a:blip>
            <a:stretch>
              <a:fillRect l="-19959" t="0" r="0" b="0"/>
            </a:stretch>
          </a:blipFill>
          <a:ln cap="sq">
            <a:noFill/>
            <a:prstDash val="solid"/>
            <a:miter/>
          </a:ln>
        </p:spPr>
      </p:sp>
      <p:sp>
        <p:nvSpPr>
          <p:cNvPr name="Freeform 6" id="6"/>
          <p:cNvSpPr/>
          <p:nvPr/>
        </p:nvSpPr>
        <p:spPr>
          <a:xfrm flipH="true" flipV="false" rot="0">
            <a:off x="13903786" y="5858652"/>
            <a:ext cx="4528929" cy="3877895"/>
          </a:xfrm>
          <a:custGeom>
            <a:avLst/>
            <a:gdLst/>
            <a:ahLst/>
            <a:cxnLst/>
            <a:rect r="r" b="b" t="t" l="l"/>
            <a:pathLst>
              <a:path h="3877895" w="4528929">
                <a:moveTo>
                  <a:pt x="4528929" y="0"/>
                </a:moveTo>
                <a:lnTo>
                  <a:pt x="0" y="0"/>
                </a:lnTo>
                <a:lnTo>
                  <a:pt x="0" y="3877895"/>
                </a:lnTo>
                <a:lnTo>
                  <a:pt x="4528929" y="3877895"/>
                </a:lnTo>
                <a:lnTo>
                  <a:pt x="45289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119749" y="3107167"/>
            <a:ext cx="14048502" cy="4353277"/>
          </a:xfrm>
          <a:prstGeom prst="rect">
            <a:avLst/>
          </a:prstGeom>
        </p:spPr>
        <p:txBody>
          <a:bodyPr anchor="t" rtlCol="false" tIns="0" lIns="0" bIns="0" rIns="0">
            <a:spAutoFit/>
          </a:bodyPr>
          <a:lstStyle/>
          <a:p>
            <a:pPr algn="ctr">
              <a:lnSpc>
                <a:spcPts val="30043"/>
              </a:lnSpc>
              <a:spcBef>
                <a:spcPct val="0"/>
              </a:spcBef>
            </a:pPr>
            <a:r>
              <a:rPr lang="en-US" sz="21459">
                <a:solidFill>
                  <a:srgbClr val="5170FF"/>
                </a:solidFill>
                <a:latin typeface="เอฟซี โอนิกิริ"/>
                <a:ea typeface="เอฟซี โอนิกิริ"/>
                <a:cs typeface="เอฟซี โอนิกิริ"/>
                <a:sym typeface="เอฟซี โอนิกิริ"/>
              </a:rPr>
              <a:t>TERIMA KASIH</a:t>
            </a:r>
          </a:p>
        </p:txBody>
      </p:sp>
      <p:sp>
        <p:nvSpPr>
          <p:cNvPr name="Freeform 8" id="8"/>
          <p:cNvSpPr/>
          <p:nvPr/>
        </p:nvSpPr>
        <p:spPr>
          <a:xfrm flipH="false" flipV="false" rot="0">
            <a:off x="8221062" y="1529259"/>
            <a:ext cx="1845875" cy="1987484"/>
          </a:xfrm>
          <a:custGeom>
            <a:avLst/>
            <a:gdLst/>
            <a:ahLst/>
            <a:cxnLst/>
            <a:rect r="r" b="b" t="t" l="l"/>
            <a:pathLst>
              <a:path h="1987484" w="1845875">
                <a:moveTo>
                  <a:pt x="0" y="0"/>
                </a:moveTo>
                <a:lnTo>
                  <a:pt x="1845876" y="0"/>
                </a:lnTo>
                <a:lnTo>
                  <a:pt x="1845876" y="1987483"/>
                </a:lnTo>
                <a:lnTo>
                  <a:pt x="0" y="19874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410595">
            <a:off x="603915" y="7231154"/>
            <a:ext cx="5043105" cy="2445906"/>
          </a:xfrm>
          <a:custGeom>
            <a:avLst/>
            <a:gdLst/>
            <a:ahLst/>
            <a:cxnLst/>
            <a:rect r="r" b="b" t="t" l="l"/>
            <a:pathLst>
              <a:path h="2445906" w="5043105">
                <a:moveTo>
                  <a:pt x="0" y="0"/>
                </a:moveTo>
                <a:lnTo>
                  <a:pt x="5043105" y="0"/>
                </a:lnTo>
                <a:lnTo>
                  <a:pt x="5043105" y="2445905"/>
                </a:lnTo>
                <a:lnTo>
                  <a:pt x="0" y="24459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DAHNdYdgNj4</dc:identifier>
  <dcterms:modified xsi:type="dcterms:W3CDTF">2011-08-01T06:04:30Z</dcterms:modified>
  <cp:revision>1</cp:revision>
  <dc:title>Kelompok 3 Sistem Rumah Sakit Digital</dc:title>
</cp:coreProperties>
</file>